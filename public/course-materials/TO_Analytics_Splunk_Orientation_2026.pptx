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Orientation: October 31, 2026. 8:00–10:00 AM Eastern from cohort announcement. Classes January 9–March 13, 2027, Saturdays at 8 AM Eastern. Source: user instructions and supplied orientation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6D378BE-5C60-4782-9AE3-86E4F621D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1CB33BC-DA1C-4A27-9FEA-3675965D05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5FECE89-1D6A-4A67-A582-57C1581F5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FC42087-6833-472D-AA06-55D7118AA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83D92AB-0B3C-4430-8EEE-B571EB6CF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8D21996-8308-4B94-85E9-3CF7CDCDD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5082F31-87D2-4E31-8277-D6718A0D0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D376053D-BD6F-4E03-B6C6-791D5002953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94CE61F-3AE9-4942-858F-0AD12E5E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241711C-20CD-4C1F-ADE1-62A7B6983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o-analytics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.co/d/0dqtgNco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.co/d/0dqtgNco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roxmox.com/en/products/proxmox-virtual-environment/requirements" TargetMode="External"/><Relationship Id="rId3" Type="http://schemas.openxmlformats.org/officeDocument/2006/relationships/hyperlink" Target="https://www.to-analytics.com/" TargetMode="External"/><Relationship Id="rId7" Type="http://schemas.openxmlformats.org/officeDocument/2006/relationships/hyperlink" Target="https://www.splunk.com/en_us/blog/platform/dashboard-studio-more-ways-to-visualize-your-data.html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help.splunk.com/en/splunk-enterprise/release-notes-and-updates/release-notes/10.6/whats-new/welcome-to-splunk-enterprise-10.6" TargetMode="External"/><Relationship Id="rId5" Type="http://schemas.openxmlformats.org/officeDocument/2006/relationships/hyperlink" Target="https://www.splunk.com/en_us/training/certification-track/splunk-enterprise-certified-admin.html" TargetMode="External"/><Relationship Id="rId4" Type="http://schemas.openxmlformats.org/officeDocument/2006/relationships/hyperlink" Target="https://www.splunk.com/en_us/training/certification-track/splunk-core-certified-power-user.html" TargetMode="External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F4985B-EA7B-4759-93F3-5B30F143B1CC}"/>
              </a:ext>
            </a:extLst>
          </p:cNvPr>
          <p:cNvSpPr>
            <a:spLocks noGrp="1"/>
          </p:cNvSpPr>
          <p:nvPr/>
        </p:nvSpPr>
        <p:spPr>
          <a:xfrm>
            <a:off x="571500" y="1428750"/>
            <a:ext cx="952500" cy="76200"/>
          </a:xfrm>
          <a:prstGeom prst="rect">
            <a:avLst/>
          </a:prstGeom>
          <a:solidFill>
            <a:srgbClr val="BB16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0FDC13-9D5C-4396-A6CC-32F1883160EC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10477500" cy="1762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5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5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5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5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5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5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5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5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5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5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5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55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SPLUNK</a:t>
            </a:r>
          </a:p>
          <a:p>
            <a:pPr>
              <a:buNone/>
              <a:defRPr sz="5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55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ORIENTATION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F34D4A-4914-43F5-98FA-05D1481D342A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10001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625" b="0">
                <a:solidFill>
                  <a:srgbClr val="E6C6E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625" b="0">
                <a:solidFill>
                  <a:srgbClr val="E6C6E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625" b="0">
                <a:solidFill>
                  <a:srgbClr val="E6C6E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625" b="0">
                <a:solidFill>
                  <a:srgbClr val="E6C6E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625" b="0">
                <a:solidFill>
                  <a:srgbClr val="E6C6E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625" b="0">
                <a:solidFill>
                  <a:srgbClr val="E6C6E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625" b="0">
                <a:solidFill>
                  <a:srgbClr val="E6C6E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625" b="0">
                <a:solidFill>
                  <a:srgbClr val="E6C6E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625" b="0">
                <a:solidFill>
                  <a:srgbClr val="E6C6E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625" b="0">
                <a:solidFill>
                  <a:srgbClr val="E6C6E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625" b="0">
                <a:solidFill>
                  <a:srgbClr val="E6C6E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625" b="0" dirty="0">
                <a:solidFill>
                  <a:srgbClr val="E6C6EF"/>
                </a:solidFill>
                <a:latin typeface="DejaVu Sans"/>
                <a:ea typeface="DejaVu Sans"/>
                <a:cs typeface="DejaVu Sans"/>
              </a:rPr>
              <a:t>Zero to Hero</a:t>
            </a:r>
            <a:endParaRPr sz="2625" b="0" dirty="0">
              <a:solidFill>
                <a:srgbClr val="E6C6E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8254A0-F59E-4035-B8D8-890D838A92A5}"/>
              </a:ext>
            </a:extLst>
          </p:cNvPr>
          <p:cNvSpPr>
            <a:spLocks noGrp="1"/>
          </p:cNvSpPr>
          <p:nvPr/>
        </p:nvSpPr>
        <p:spPr>
          <a:xfrm>
            <a:off x="609600" y="5172075"/>
            <a:ext cx="9525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Saturday, October 31, 2026</a:t>
            </a:r>
          </a:p>
          <a:p>
            <a:pPr>
              <a:buNone/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8:00–10:00 AM Eastern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1EE307-8CCB-4CD3-ADCC-CD5DB7636CAF}"/>
              </a:ext>
            </a:extLst>
          </p:cNvPr>
          <p:cNvSpPr>
            <a:spLocks noGrp="1"/>
          </p:cNvSpPr>
          <p:nvPr/>
        </p:nvSpPr>
        <p:spPr>
          <a:xfrm>
            <a:off x="8096250" y="619125"/>
            <a:ext cx="3429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00" b="1">
                <a:solidFill>
                  <a:srgbClr val="E6C6E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1">
                <a:solidFill>
                  <a:srgbClr val="E6C6E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1">
                <a:solidFill>
                  <a:srgbClr val="E6C6E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1">
                <a:solidFill>
                  <a:srgbClr val="E6C6E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1">
                <a:solidFill>
                  <a:srgbClr val="E6C6E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1">
                <a:solidFill>
                  <a:srgbClr val="E6C6E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1">
                <a:solidFill>
                  <a:srgbClr val="E6C6E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1">
                <a:solidFill>
                  <a:srgbClr val="E6C6E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1">
                <a:solidFill>
                  <a:srgbClr val="E6C6E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1">
                <a:solidFill>
                  <a:srgbClr val="E6C6E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500" b="1">
                <a:solidFill>
                  <a:srgbClr val="E6C6E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dirty="0">
                <a:solidFill>
                  <a:srgbClr val="E6C6EF"/>
                </a:solidFill>
                <a:latin typeface="DejaVu Sans"/>
                <a:ea typeface="DejaVu Sans"/>
                <a:cs typeface="DejaVu Sans"/>
              </a:rPr>
              <a:t>2026–2027 COHORT</a:t>
            </a:r>
          </a:p>
        </p:txBody>
      </p:sp>
      <p:sp>
        <p:nvSpPr>
          <p:cNvPr id="8" name="Logo white backing">
            <a:extLst>
              <a:ext uri="{FF2B5EF4-FFF2-40B4-BE49-F238E27FC236}">
                <a16:creationId xmlns:a16="http://schemas.microsoft.com/office/drawing/2014/main" id="{83E72569-6574-4AD3-997E-9226790A3EF8}"/>
              </a:ext>
            </a:extLst>
          </p:cNvPr>
          <p:cNvSpPr>
            <a:spLocks noGrp="1"/>
          </p:cNvSpPr>
          <p:nvPr/>
        </p:nvSpPr>
        <p:spPr>
          <a:xfrm>
            <a:off x="381000" y="619125"/>
            <a:ext cx="1500352" cy="733426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E2295E-9002-AA34-ACDB-BBBCB520F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2161" y="713553"/>
            <a:ext cx="1331177" cy="571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3DD9365-EC19-6208-E9FE-7CC3622D063D}"/>
              </a:ext>
            </a:extLst>
          </p:cNvPr>
          <p:cNvSpPr txBox="1"/>
          <p:nvPr/>
        </p:nvSpPr>
        <p:spPr>
          <a:xfrm>
            <a:off x="2974428" y="41726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223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BEFA3AC-3AC3-4D78-BD41-0CC7F5AF0B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57300"/>
          </a:xfrm>
          <a:prstGeom prst="rect">
            <a:avLst/>
          </a:prstGeom>
          <a:solidFill>
            <a:srgbClr val="2D2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A67D18-64B6-4EEA-9B46-3A26F8CD1F42}"/>
              </a:ext>
            </a:extLst>
          </p:cNvPr>
          <p:cNvSpPr>
            <a:spLocks noGrp="1"/>
          </p:cNvSpPr>
          <p:nvPr/>
        </p:nvSpPr>
        <p:spPr>
          <a:xfrm>
            <a:off x="11163300" y="0"/>
            <a:ext cx="266700" cy="1457325"/>
          </a:xfrm>
          <a:prstGeom prst="rect">
            <a:avLst/>
          </a:prstGeom>
          <a:solidFill>
            <a:srgbClr val="BB16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9B3262-2B1C-47BD-9055-2CE41EEA4A7A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382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Today’s orientation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B18B9B-70E1-43C8-A0E1-15655022D3A0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23F87D-72DE-43E6-A102-3E8A06D3B6EB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The learning path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1986BE-81F4-4BFB-8B68-04DFCB082B0A}"/>
              </a:ext>
            </a:extLst>
          </p:cNvPr>
          <p:cNvSpPr>
            <a:spLocks noGrp="1"/>
          </p:cNvSpPr>
          <p:nvPr/>
        </p:nvSpPr>
        <p:spPr>
          <a:xfrm>
            <a:off x="552450" y="208597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Complete Power User and Admin certification goals before formal classes.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A2439C-D72B-4E47-98EB-C8AF23639C96}"/>
              </a:ext>
            </a:extLst>
          </p:cNvPr>
          <p:cNvSpPr>
            <a:spLocks noGrp="1"/>
          </p:cNvSpPr>
          <p:nvPr/>
        </p:nvSpPr>
        <p:spPr>
          <a:xfrm>
            <a:off x="552450" y="273367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Your personal lab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A69103-00CD-4925-AE95-54A8204E1340}"/>
              </a:ext>
            </a:extLst>
          </p:cNvPr>
          <p:cNvSpPr>
            <a:spLocks noGrp="1"/>
          </p:cNvSpPr>
          <p:nvPr/>
        </p:nvSpPr>
        <p:spPr>
          <a:xfrm>
            <a:off x="552450" y="308610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Purchase a server and prepare to build eight virtual machines in Proxmox VE.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2154E0-0391-4660-8529-FBD782588C65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The Saturday curriculum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CA582B-87A0-4CB6-A73E-2EB6C24FF681}"/>
              </a:ext>
            </a:extLst>
          </p:cNvPr>
          <p:cNvSpPr>
            <a:spLocks noGrp="1"/>
          </p:cNvSpPr>
          <p:nvPr/>
        </p:nvSpPr>
        <p:spPr>
          <a:xfrm>
            <a:off x="552450" y="408622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Ten sessions from January 9 through March 13, 2027, starting at 8:00 AM Eastern.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11C67E-B945-40D8-8F6A-8725476535A4}"/>
              </a:ext>
            </a:extLst>
          </p:cNvPr>
          <p:cNvSpPr>
            <a:spLocks noGrp="1"/>
          </p:cNvSpPr>
          <p:nvPr/>
        </p:nvSpPr>
        <p:spPr>
          <a:xfrm>
            <a:off x="552450" y="473392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Your next actions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D89799-EC39-4949-B82F-475AFDBA2A84}"/>
              </a:ext>
            </a:extLst>
          </p:cNvPr>
          <p:cNvSpPr>
            <a:spLocks noGrp="1"/>
          </p:cNvSpPr>
          <p:nvPr/>
        </p:nvSpPr>
        <p:spPr>
          <a:xfrm>
            <a:off x="552450" y="508635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Set your study plan, confirm hardware, and begin weekly instructor check-ins.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E7D0A35-A533-0593-3BCF-B389DD2E3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6143625"/>
            <a:ext cx="1331177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413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F2B5A6C-45D0-4916-BE15-25EF55C44F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57300"/>
          </a:xfrm>
          <a:prstGeom prst="rect">
            <a:avLst/>
          </a:prstGeom>
          <a:solidFill>
            <a:srgbClr val="2D2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37B93A-C2CA-4DB8-939F-1E6BA84DCEEB}"/>
              </a:ext>
            </a:extLst>
          </p:cNvPr>
          <p:cNvSpPr>
            <a:spLocks noGrp="1"/>
          </p:cNvSpPr>
          <p:nvPr/>
        </p:nvSpPr>
        <p:spPr>
          <a:xfrm>
            <a:off x="11163300" y="0"/>
            <a:ext cx="266700" cy="1457325"/>
          </a:xfrm>
          <a:prstGeom prst="rect">
            <a:avLst/>
          </a:prstGeom>
          <a:solidFill>
            <a:srgbClr val="BB16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CAB2DB-E89F-4E20-BA27-2E9FC1F5BD30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382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The program has two phases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DCD9BC-5525-4227-9438-321E3ADBCEE4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1D2651-D92D-4290-BADC-9F9026E0CCCB}"/>
              </a:ext>
            </a:extLst>
          </p:cNvPr>
          <p:cNvSpPr>
            <a:spLocks noGrp="1"/>
          </p:cNvSpPr>
          <p:nvPr/>
        </p:nvSpPr>
        <p:spPr>
          <a:xfrm>
            <a:off x="552450" y="1714500"/>
            <a:ext cx="52197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rPr>
              <a:t>NOW THROUGH DECEMBER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57529-190F-46F8-911A-5A293978D686}"/>
              </a:ext>
            </a:extLst>
          </p:cNvPr>
          <p:cNvSpPr>
            <a:spLocks noGrp="1"/>
          </p:cNvSpPr>
          <p:nvPr/>
        </p:nvSpPr>
        <p:spPr>
          <a:xfrm>
            <a:off x="552450" y="2381250"/>
            <a:ext cx="5143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rPr>
              <a:t>Prepare for Power User first, then Enterprise Admin.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858F43-FE35-4FD1-BF69-24DDC17167EA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5143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rPr>
              <a:t>Use the exam blueprints, study resources, and short practice exercises.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044BB3-CF45-4DDC-996C-1EABFD118FE3}"/>
              </a:ext>
            </a:extLst>
          </p:cNvPr>
          <p:cNvSpPr>
            <a:spLocks noGrp="1"/>
          </p:cNvSpPr>
          <p:nvPr/>
        </p:nvSpPr>
        <p:spPr>
          <a:xfrm>
            <a:off x="552450" y="4286250"/>
            <a:ext cx="5143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rPr>
              <a:t>Contact the instructor every week with questions and progress.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8DA842-5AF0-4346-B109-9C181FB01019}"/>
              </a:ext>
            </a:extLst>
          </p:cNvPr>
          <p:cNvSpPr>
            <a:spLocks noGrp="1"/>
          </p:cNvSpPr>
          <p:nvPr/>
        </p:nvSpPr>
        <p:spPr>
          <a:xfrm>
            <a:off x="6305550" y="1714500"/>
            <a:ext cx="52197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rPr>
              <a:t>JANUARY–MARCH 2027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11A78D-C447-4BF4-9F6B-F9021F9129B9}"/>
              </a:ext>
            </a:extLst>
          </p:cNvPr>
          <p:cNvSpPr>
            <a:spLocks noGrp="1"/>
          </p:cNvSpPr>
          <p:nvPr/>
        </p:nvSpPr>
        <p:spPr>
          <a:xfrm>
            <a:off x="6305550" y="2381250"/>
            <a:ext cx="5143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rPr>
              <a:t>Build and operate your own distributed Splunk lab.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63359E-C3BE-44E6-A6D0-886205771B20}"/>
              </a:ext>
            </a:extLst>
          </p:cNvPr>
          <p:cNvSpPr>
            <a:spLocks noGrp="1"/>
          </p:cNvSpPr>
          <p:nvPr/>
        </p:nvSpPr>
        <p:spPr>
          <a:xfrm>
            <a:off x="6305550" y="3333750"/>
            <a:ext cx="5143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rPr>
              <a:t>Apply the concepts from certification study in weekly hands-on work.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BD39CB-D96F-4167-B5C3-A6513879F681}"/>
              </a:ext>
            </a:extLst>
          </p:cNvPr>
          <p:cNvSpPr>
            <a:spLocks noGrp="1"/>
          </p:cNvSpPr>
          <p:nvPr/>
        </p:nvSpPr>
        <p:spPr>
          <a:xfrm>
            <a:off x="6305550" y="4286250"/>
            <a:ext cx="5143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rPr>
              <a:t>Finish with a working deployment, dashboards, and a troubleshooting demo.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3C26964-A300-7887-9D2D-3F775F678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6143625"/>
            <a:ext cx="1331177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482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F14CA60-3C5C-4B08-910F-A98CAFA70C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57300"/>
          </a:xfrm>
          <a:prstGeom prst="rect">
            <a:avLst/>
          </a:prstGeom>
          <a:solidFill>
            <a:srgbClr val="2D2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3F9F74-2F91-44BE-8478-E2E13BBAB70C}"/>
              </a:ext>
            </a:extLst>
          </p:cNvPr>
          <p:cNvSpPr>
            <a:spLocks noGrp="1"/>
          </p:cNvSpPr>
          <p:nvPr/>
        </p:nvSpPr>
        <p:spPr>
          <a:xfrm>
            <a:off x="11163300" y="0"/>
            <a:ext cx="266700" cy="1457325"/>
          </a:xfrm>
          <a:prstGeom prst="rect">
            <a:avLst/>
          </a:prstGeom>
          <a:solidFill>
            <a:srgbClr val="BB16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22D768-313F-4E77-92B6-FD5A87D835EA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382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Dates everyone needs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7321F0-FD13-4F6E-BE76-AF2C8EC79C97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1BB81B4-8EF1-486E-B019-30426E9C81E5}"/>
              </a:ext>
            </a:extLst>
          </p:cNvPr>
          <p:cNvGraphicFramePr/>
          <p:nvPr/>
        </p:nvGraphicFramePr>
        <p:xfrm>
          <a:off x="533400" y="1714500"/>
          <a:ext cx="11125200" cy="400050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Milestone</a:t>
                      </a:r>
                    </a:p>
                  </a:txBody>
                  <a:tcPr>
                    <a:lnL w="9525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2D2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Date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2D2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Expected result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2D2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Orientation</a:t>
                      </a:r>
                    </a:p>
                  </a:txBody>
                  <a:tcPr>
                    <a:lnL w="9525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Oct 31, 2026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Know the plan and requirements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Power User deadline</a:t>
                      </a:r>
                    </a:p>
                  </a:txBody>
                  <a:tcPr>
                    <a:lnL w="9525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Nov 28, 2026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Pass Splunk Core Certified Power User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Admin deadline</a:t>
                      </a:r>
                    </a:p>
                  </a:txBody>
                  <a:tcPr>
                    <a:lnL w="9525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 19, 2026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Pass Splunk Enterprise Certified Admin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First official class</a:t>
                      </a:r>
                    </a:p>
                  </a:txBody>
                  <a:tcPr>
                    <a:lnL w="9525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Jan 9, 2027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Proxmox installation and VM setup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Final class / capstone</a:t>
                      </a:r>
                    </a:p>
                  </a:txBody>
                  <a:tcPr>
                    <a:lnL w="9525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Mar 13, 2027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Demonstrate the complete lab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EF7AF2D-42AB-414C-8983-647E7E7BFEA9}"/>
              </a:ext>
            </a:extLst>
          </p:cNvPr>
          <p:cNvSpPr>
            <a:spLocks noGrp="1"/>
          </p:cNvSpPr>
          <p:nvPr/>
        </p:nvSpPr>
        <p:spPr>
          <a:xfrm>
            <a:off x="533400" y="5859681"/>
            <a:ext cx="1095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dirty="0">
                <a:solidFill>
                  <a:srgbClr val="BB1686"/>
                </a:solidFill>
                <a:latin typeface="DejaVu Sans"/>
                <a:ea typeface="DejaVu Sans"/>
                <a:cs typeface="DejaVu Sans"/>
              </a:rPr>
              <a:t>All official classes: Saturdays at 8:00 AM Eastern.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CDCACE-EA4C-0D10-91FC-532967BA3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6143625"/>
            <a:ext cx="1331177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3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6B17D5A-1DCC-4591-847F-005B4B5537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57300"/>
          </a:xfrm>
          <a:prstGeom prst="rect">
            <a:avLst/>
          </a:prstGeom>
          <a:solidFill>
            <a:srgbClr val="2D2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8CDA23-869F-49ED-AC76-45D4C6876F8E}"/>
              </a:ext>
            </a:extLst>
          </p:cNvPr>
          <p:cNvSpPr>
            <a:spLocks noGrp="1"/>
          </p:cNvSpPr>
          <p:nvPr/>
        </p:nvSpPr>
        <p:spPr>
          <a:xfrm>
            <a:off x="11163300" y="0"/>
            <a:ext cx="266700" cy="1457325"/>
          </a:xfrm>
          <a:prstGeom prst="rect">
            <a:avLst/>
          </a:prstGeom>
          <a:solidFill>
            <a:srgbClr val="BB16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EF6194-5893-45D3-B9C0-A55A430424F4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382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Certification comes first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834C8A-C6AE-4E03-B12F-6B2B5A7657E2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BF7486-AD55-4100-8145-B2D9ABE33C53}"/>
              </a:ext>
            </a:extLst>
          </p:cNvPr>
          <p:cNvSpPr>
            <a:spLocks noGrp="1"/>
          </p:cNvSpPr>
          <p:nvPr/>
        </p:nvSpPr>
        <p:spPr>
          <a:xfrm>
            <a:off x="552450" y="1714500"/>
            <a:ext cx="52197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rPr>
              <a:t>01  CORE CERTIFIED POWER USER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A81A2A-2280-450B-8BA6-835C7947B920}"/>
              </a:ext>
            </a:extLst>
          </p:cNvPr>
          <p:cNvSpPr>
            <a:spLocks noGrp="1"/>
          </p:cNvSpPr>
          <p:nvPr/>
        </p:nvSpPr>
        <p:spPr>
          <a:xfrm>
            <a:off x="552450" y="2381250"/>
            <a:ext cx="5143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rPr>
              <a:t>Deadline: Saturday, November 28, 2026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AD0B3F-ED6A-46F9-AE2C-4E855E8CB72B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5143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rPr>
              <a:t>No prerequisite certification. Focus on SPL, fields, knowledge objects, and data models.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1AEA89-BB61-4160-A36E-47A3F0696C24}"/>
              </a:ext>
            </a:extLst>
          </p:cNvPr>
          <p:cNvSpPr>
            <a:spLocks noGrp="1"/>
          </p:cNvSpPr>
          <p:nvPr/>
        </p:nvSpPr>
        <p:spPr>
          <a:xfrm>
            <a:off x="552450" y="4286250"/>
            <a:ext cx="5143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rPr>
              <a:t>Use official objectives to identify gaps and explain why each answer is correct.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FA752D-0CD7-40BD-AD95-03BC9FE2F0FA}"/>
              </a:ext>
            </a:extLst>
          </p:cNvPr>
          <p:cNvSpPr>
            <a:spLocks noGrp="1"/>
          </p:cNvSpPr>
          <p:nvPr/>
        </p:nvSpPr>
        <p:spPr>
          <a:xfrm>
            <a:off x="6305550" y="1714500"/>
            <a:ext cx="52197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rPr>
              <a:t>02  ENTERPRISE CERTIFIED ADMIN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C927B8-AEE1-460E-A4C8-E0F62E9E9E17}"/>
              </a:ext>
            </a:extLst>
          </p:cNvPr>
          <p:cNvSpPr>
            <a:spLocks noGrp="1"/>
          </p:cNvSpPr>
          <p:nvPr/>
        </p:nvSpPr>
        <p:spPr>
          <a:xfrm>
            <a:off x="6305550" y="2381250"/>
            <a:ext cx="5143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rPr>
              <a:t>Deadline: Saturday, December 19, 2026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F12F8E-FFB2-4DD7-9C81-583778C2A8DD}"/>
              </a:ext>
            </a:extLst>
          </p:cNvPr>
          <p:cNvSpPr>
            <a:spLocks noGrp="1"/>
          </p:cNvSpPr>
          <p:nvPr/>
        </p:nvSpPr>
        <p:spPr>
          <a:xfrm>
            <a:off x="6305550" y="3333750"/>
            <a:ext cx="5143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rPr>
              <a:t>Power User is the prerequisite. Focus on system administration and data administration.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1A7555-2D67-4351-B1DD-02F3FABB0598}"/>
              </a:ext>
            </a:extLst>
          </p:cNvPr>
          <p:cNvSpPr>
            <a:spLocks noGrp="1"/>
          </p:cNvSpPr>
          <p:nvPr/>
        </p:nvSpPr>
        <p:spPr>
          <a:xfrm>
            <a:off x="6305550" y="4286250"/>
            <a:ext cx="5143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rPr>
              <a:t>Schedule early enough to leave room for a retake under current exam policies.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4C7ECA3-C08F-B89D-FC45-DF19822C5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6143625"/>
            <a:ext cx="1331177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167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DF01EC7-E752-45C0-9DE5-E66E03F33B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57300"/>
          </a:xfrm>
          <a:prstGeom prst="rect">
            <a:avLst/>
          </a:prstGeom>
          <a:solidFill>
            <a:srgbClr val="2D2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368ECF-CD53-4526-ABBD-9F40433800A8}"/>
              </a:ext>
            </a:extLst>
          </p:cNvPr>
          <p:cNvSpPr>
            <a:spLocks noGrp="1"/>
          </p:cNvSpPr>
          <p:nvPr/>
        </p:nvSpPr>
        <p:spPr>
          <a:xfrm>
            <a:off x="11163300" y="0"/>
            <a:ext cx="266700" cy="1457325"/>
          </a:xfrm>
          <a:prstGeom prst="rect">
            <a:avLst/>
          </a:prstGeom>
          <a:solidFill>
            <a:srgbClr val="BB16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4FDB3D-7F84-4EAA-BE7F-6E3D85ACBAA7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382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Weekly preparation and support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3F6189-B828-4F26-AA29-6DA9DE4D863E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7C87AA-E2BC-4650-A64F-56F3DC43810E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Every week through December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39213A-F73B-4266-97B3-7F74D742D5F0}"/>
              </a:ext>
            </a:extLst>
          </p:cNvPr>
          <p:cNvSpPr>
            <a:spLocks noGrp="1"/>
          </p:cNvSpPr>
          <p:nvPr/>
        </p:nvSpPr>
        <p:spPr>
          <a:xfrm>
            <a:off x="552450" y="208597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Reach out to the instructor with exam questions, difficult topics, and your progress.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1700B8-F808-4AFF-AEBD-D4DF62CBB280}"/>
              </a:ext>
            </a:extLst>
          </p:cNvPr>
          <p:cNvSpPr>
            <a:spLocks noGrp="1"/>
          </p:cNvSpPr>
          <p:nvPr/>
        </p:nvSpPr>
        <p:spPr>
          <a:xfrm>
            <a:off x="552450" y="273367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Power User study period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830A76-EA82-45A6-991C-4E3AE2F8A0E8}"/>
              </a:ext>
            </a:extLst>
          </p:cNvPr>
          <p:cNvSpPr>
            <a:spLocks noGrp="1"/>
          </p:cNvSpPr>
          <p:nvPr/>
        </p:nvSpPr>
        <p:spPr>
          <a:xfrm>
            <a:off x="552450" y="308610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From orientation through November 28: practice SPL and review the official blueprint.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FC7BFE-CA50-4EBE-8FE5-FF34CBCA6B2D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Admin study period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B84D14-35CE-406F-B2B2-39FD2C9ACE07}"/>
              </a:ext>
            </a:extLst>
          </p:cNvPr>
          <p:cNvSpPr>
            <a:spLocks noGrp="1"/>
          </p:cNvSpPr>
          <p:nvPr/>
        </p:nvSpPr>
        <p:spPr>
          <a:xfrm>
            <a:off x="552450" y="408622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After Power User through December 19: work through configuration and ingest scenarios.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E8824D-242E-450A-AA62-27C7155E9529}"/>
              </a:ext>
            </a:extLst>
          </p:cNvPr>
          <p:cNvSpPr>
            <a:spLocks noGrp="1"/>
          </p:cNvSpPr>
          <p:nvPr/>
        </p:nvSpPr>
        <p:spPr>
          <a:xfrm>
            <a:off x="552450" y="473392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Free T.O Analytics practice questions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F97405-9DE8-4F4B-9A58-E18227C2E239}"/>
              </a:ext>
            </a:extLst>
          </p:cNvPr>
          <p:cNvSpPr>
            <a:spLocks noGrp="1"/>
          </p:cNvSpPr>
          <p:nvPr/>
        </p:nvSpPr>
        <p:spPr>
          <a:xfrm>
            <a:off x="552450" y="508635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Instructor reports a 100% first-attempt pass rate among more than 14 past users. Results vary.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29C838-32FF-4A92-9425-A30166CABCED}"/>
              </a:ext>
            </a:extLst>
          </p:cNvPr>
          <p:cNvSpPr>
            <a:spLocks noGrp="1"/>
          </p:cNvSpPr>
          <p:nvPr/>
        </p:nvSpPr>
        <p:spPr>
          <a:xfrm>
            <a:off x="552450" y="5772150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pPr>
            <a:r>
              <a:rPr dirty="0">
                <a:hlinkClick r:id="rId3"/>
              </a:rPr>
              <a:t>Study hub: www.to-analytics.com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60CE4CA-5DD3-F382-6E31-6EF9EFE5D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" y="6143625"/>
            <a:ext cx="1331177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6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7F386F9-F600-48D4-AE4E-17A7D4EF06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57300"/>
          </a:xfrm>
          <a:prstGeom prst="rect">
            <a:avLst/>
          </a:prstGeom>
          <a:solidFill>
            <a:srgbClr val="2D2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98F4E8-B1C8-4965-96AE-8ABADA8FA1A7}"/>
              </a:ext>
            </a:extLst>
          </p:cNvPr>
          <p:cNvSpPr>
            <a:spLocks noGrp="1"/>
          </p:cNvSpPr>
          <p:nvPr/>
        </p:nvSpPr>
        <p:spPr>
          <a:xfrm>
            <a:off x="11163300" y="0"/>
            <a:ext cx="266700" cy="1457325"/>
          </a:xfrm>
          <a:prstGeom prst="rect">
            <a:avLst/>
          </a:prstGeom>
          <a:solidFill>
            <a:srgbClr val="BB16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E3EFB7-E676-46C7-8C9E-0C77E201625A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382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server is required for every student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6A4D06-23B4-4F94-B55F-AF40E6E8FA51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E07C96-30B7-49FD-8683-E604804F838C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Required purchase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EDB48A-3CA1-4C8A-AAD6-2D74BB262530}"/>
              </a:ext>
            </a:extLst>
          </p:cNvPr>
          <p:cNvSpPr>
            <a:spLocks noGrp="1"/>
          </p:cNvSpPr>
          <p:nvPr/>
        </p:nvSpPr>
        <p:spPr>
          <a:xfrm>
            <a:off x="552450" y="208597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Every student must purchase a dedicated server for their personal virtualization lab.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A6BDB2-239C-4656-BE14-30A0CEDA9729}"/>
              </a:ext>
            </a:extLst>
          </p:cNvPr>
          <p:cNvSpPr>
            <a:spLocks noGrp="1"/>
          </p:cNvSpPr>
          <p:nvPr/>
        </p:nvSpPr>
        <p:spPr>
          <a:xfrm>
            <a:off x="552450" y="273367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Recommended option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351F11-2732-48C8-AA0D-DDB3D7B52273}"/>
              </a:ext>
            </a:extLst>
          </p:cNvPr>
          <p:cNvSpPr>
            <a:spLocks noGrp="1"/>
          </p:cNvSpPr>
          <p:nvPr/>
        </p:nvSpPr>
        <p:spPr>
          <a:xfrm>
            <a:off x="552450" y="308610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Use the instructor’s Amazon link below. Verify the selected RAM and storage configuration.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DCADD4-A51B-4F18-9432-39D142F0D347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Proposed lab target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37ABF6-80E1-4650-BAC7-C888099177A1}"/>
              </a:ext>
            </a:extLst>
          </p:cNvPr>
          <p:cNvSpPr>
            <a:spLocks noGrp="1"/>
          </p:cNvSpPr>
          <p:nvPr/>
        </p:nvSpPr>
        <p:spPr>
          <a:xfrm>
            <a:off x="552450" y="408622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x86-64 CPU with VT-x / AMD-V, 8+ cores, 64 GB RAM, 1 TB SSD/NVMe, wired Ethernet.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6CC492-9252-4243-93C1-43FD9DD4F060}"/>
              </a:ext>
            </a:extLst>
          </p:cNvPr>
          <p:cNvSpPr>
            <a:spLocks noGrp="1"/>
          </p:cNvSpPr>
          <p:nvPr/>
        </p:nvSpPr>
        <p:spPr>
          <a:xfrm>
            <a:off x="552450" y="473392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Before January 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5C2D96-01B6-47F3-B8F2-6288F18E7D6B}"/>
              </a:ext>
            </a:extLst>
          </p:cNvPr>
          <p:cNvSpPr>
            <a:spLocks noGrp="1"/>
          </p:cNvSpPr>
          <p:nvPr/>
        </p:nvSpPr>
        <p:spPr>
          <a:xfrm>
            <a:off x="552450" y="508635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Have the server, a separate laptop, bootable USB media, and a working network ready.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52AD02-5BE1-4EF1-BC39-CB0CDEB2864E}"/>
              </a:ext>
            </a:extLst>
          </p:cNvPr>
          <p:cNvSpPr>
            <a:spLocks noGrp="1"/>
          </p:cNvSpPr>
          <p:nvPr/>
        </p:nvSpPr>
        <p:spPr>
          <a:xfrm>
            <a:off x="552450" y="5772150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pPr>
            <a:r>
              <a:rPr dirty="0">
                <a:hlinkClick r:id="rId3"/>
              </a:rPr>
              <a:t>Recommended server: https://a.co/d/0dqtgNco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35E61A0-DE82-D66C-2250-FF60F9B5A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" y="6143625"/>
            <a:ext cx="1331177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8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ED011A6-B931-473B-8D00-E85FC98E6C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57300"/>
          </a:xfrm>
          <a:prstGeom prst="rect">
            <a:avLst/>
          </a:prstGeom>
          <a:solidFill>
            <a:srgbClr val="2D2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617F6D-4A21-44B2-AD57-10D76AF378EA}"/>
              </a:ext>
            </a:extLst>
          </p:cNvPr>
          <p:cNvSpPr>
            <a:spLocks noGrp="1"/>
          </p:cNvSpPr>
          <p:nvPr/>
        </p:nvSpPr>
        <p:spPr>
          <a:xfrm>
            <a:off x="11163300" y="0"/>
            <a:ext cx="266700" cy="1457325"/>
          </a:xfrm>
          <a:prstGeom prst="rect">
            <a:avLst/>
          </a:prstGeom>
          <a:solidFill>
            <a:srgbClr val="BB16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CBEFCB-99BC-4075-BC82-4E8B3A252091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382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Your Proxmox lab will look like this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F8BA63-7278-4C92-9819-4DBC05891742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EB08B3-3087-40CE-AFF4-6D627F279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83491" y="1600200"/>
            <a:ext cx="9225017" cy="4191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9F8EC8F-6A14-41B4-997A-CB7F9B3F2EC7}"/>
              </a:ext>
            </a:extLst>
          </p:cNvPr>
          <p:cNvSpPr>
            <a:spLocks noGrp="1"/>
          </p:cNvSpPr>
          <p:nvPr/>
        </p:nvSpPr>
        <p:spPr>
          <a:xfrm>
            <a:off x="533400" y="5867400"/>
            <a:ext cx="11125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dirty="0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Eight Splunk VMs on one physical host. “MAIN” is optional.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7C2271-14D8-636A-A6D8-7E1D7ECBE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" y="6143625"/>
            <a:ext cx="1331177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772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14C6BC6-A724-4B4C-BC74-B54D7449D98F}"/>
              </a:ext>
            </a:extLst>
          </p:cNvPr>
          <p:cNvCxnSpPr>
            <a:stCxn id="12" idx="2"/>
            <a:endCxn id="8" idx="0"/>
          </p:cNvCxnSpPr>
          <p:nvPr/>
        </p:nvCxnSpPr>
        <p:spPr>
          <a:xfrm>
            <a:off x="6105525" y="2514600"/>
            <a:ext cx="0" cy="628650"/>
          </a:xfrm>
          <a:prstGeom prst="straightConnector1">
            <a:avLst/>
          </a:prstGeom>
          <a:ln w="19050">
            <a:solidFill>
              <a:srgbClr val="2D204A"/>
            </a:solidFill>
            <a:prstDash val="soli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BEF5603-FC08-411E-ABA3-A1729DF043DF}"/>
              </a:ext>
            </a:extLst>
          </p:cNvPr>
          <p:cNvCxnSpPr>
            <a:stCxn id="10" idx="1"/>
            <a:endCxn id="8" idx="3"/>
          </p:cNvCxnSpPr>
          <p:nvPr/>
        </p:nvCxnSpPr>
        <p:spPr>
          <a:xfrm flipH="1">
            <a:off x="7581900" y="3619500"/>
            <a:ext cx="1676400" cy="0"/>
          </a:xfrm>
          <a:prstGeom prst="straightConnector1">
            <a:avLst/>
          </a:prstGeom>
          <a:ln w="28575">
            <a:solidFill>
              <a:srgbClr val="2D204A"/>
            </a:solidFill>
            <a:prstDash val="solid"/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498351E-ED57-469C-AE8A-04673E8F7079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2790825" y="3619500"/>
            <a:ext cx="1838325" cy="0"/>
          </a:xfrm>
          <a:prstGeom prst="straightConnector1">
            <a:avLst/>
          </a:prstGeom>
          <a:ln w="28575">
            <a:solidFill>
              <a:srgbClr val="BB1686"/>
            </a:solidFill>
            <a:prstDash val="solid"/>
            <a:tailEnd type="triangle" w="med" len="med"/>
          </a:ln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1C7148A-9034-4257-B0C7-EB0AB5EFF6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57300"/>
          </a:xfrm>
          <a:prstGeom prst="rect">
            <a:avLst/>
          </a:prstGeom>
          <a:solidFill>
            <a:srgbClr val="2D2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D42254-564D-4B9D-9570-B8F4D12A84D4}"/>
              </a:ext>
            </a:extLst>
          </p:cNvPr>
          <p:cNvSpPr>
            <a:spLocks noGrp="1"/>
          </p:cNvSpPr>
          <p:nvPr/>
        </p:nvSpPr>
        <p:spPr>
          <a:xfrm>
            <a:off x="11163300" y="0"/>
            <a:ext cx="266700" cy="1457325"/>
          </a:xfrm>
          <a:prstGeom prst="rect">
            <a:avLst/>
          </a:prstGeom>
          <a:solidFill>
            <a:srgbClr val="BB16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934A5E-DE6D-414E-A941-183E81B21A2B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382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Eight virtual machines, distinct roles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9EEC74-540B-4E06-92A9-707C98D96875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77B3E6-50CC-4E63-B748-303BB945AB72}"/>
              </a:ext>
            </a:extLst>
          </p:cNvPr>
          <p:cNvSpPr>
            <a:spLocks noGrp="1"/>
          </p:cNvSpPr>
          <p:nvPr/>
        </p:nvSpPr>
        <p:spPr>
          <a:xfrm>
            <a:off x="552450" y="3143250"/>
            <a:ext cx="2238375" cy="952500"/>
          </a:xfrm>
          <a:prstGeom prst="rect">
            <a:avLst/>
          </a:prstGeom>
          <a:solidFill>
            <a:srgbClr val="F5F0F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7B9A09-583F-4E3D-987F-69862F495228}"/>
              </a:ext>
            </a:extLst>
          </p:cNvPr>
          <p:cNvSpPr>
            <a:spLocks noGrp="1"/>
          </p:cNvSpPr>
          <p:nvPr/>
        </p:nvSpPr>
        <p:spPr>
          <a:xfrm>
            <a:off x="685800" y="3286125"/>
            <a:ext cx="19716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UF1 + UF2</a:t>
            </a:r>
          </a:p>
          <a:p>
            <a: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Collect logs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70F879-E46F-445A-B917-FFC1618282B9}"/>
              </a:ext>
            </a:extLst>
          </p:cNvPr>
          <p:cNvSpPr>
            <a:spLocks noGrp="1"/>
          </p:cNvSpPr>
          <p:nvPr/>
        </p:nvSpPr>
        <p:spPr>
          <a:xfrm>
            <a:off x="4629150" y="3143250"/>
            <a:ext cx="2952750" cy="952500"/>
          </a:xfrm>
          <a:prstGeom prst="rect">
            <a:avLst/>
          </a:prstGeom>
          <a:solidFill>
            <a:srgbClr val="F5F0F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4D0A13-7513-414B-B621-44160A0E5FE5}"/>
              </a:ext>
            </a:extLst>
          </p:cNvPr>
          <p:cNvSpPr>
            <a:spLocks noGrp="1"/>
          </p:cNvSpPr>
          <p:nvPr/>
        </p:nvSpPr>
        <p:spPr>
          <a:xfrm>
            <a:off x="4762500" y="3286125"/>
            <a:ext cx="2686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IDX1 / IDX2 / IDX3</a:t>
            </a:r>
          </a:p>
          <a:p>
            <a: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Store and replicate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10BED2-5595-488E-B48C-6BF4B29C74F6}"/>
              </a:ext>
            </a:extLst>
          </p:cNvPr>
          <p:cNvSpPr>
            <a:spLocks noGrp="1"/>
          </p:cNvSpPr>
          <p:nvPr/>
        </p:nvSpPr>
        <p:spPr>
          <a:xfrm>
            <a:off x="9258300" y="3143250"/>
            <a:ext cx="2381250" cy="952500"/>
          </a:xfrm>
          <a:prstGeom prst="rect">
            <a:avLst/>
          </a:prstGeom>
          <a:solidFill>
            <a:srgbClr val="F5F0F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96ECA7-99B7-4422-B3D1-1B5F48C6F9DC}"/>
              </a:ext>
            </a:extLst>
          </p:cNvPr>
          <p:cNvSpPr>
            <a:spLocks noGrp="1"/>
          </p:cNvSpPr>
          <p:nvPr/>
        </p:nvSpPr>
        <p:spPr>
          <a:xfrm>
            <a:off x="9391650" y="3286125"/>
            <a:ext cx="21145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SH1</a:t>
            </a:r>
          </a:p>
          <a:p>
            <a: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Search and dashboards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598907-D3C7-4F9D-948B-2C3466DA8C15}"/>
              </a:ext>
            </a:extLst>
          </p:cNvPr>
          <p:cNvSpPr>
            <a:spLocks noGrp="1"/>
          </p:cNvSpPr>
          <p:nvPr/>
        </p:nvSpPr>
        <p:spPr>
          <a:xfrm>
            <a:off x="4629150" y="1657350"/>
            <a:ext cx="2952750" cy="857250"/>
          </a:xfrm>
          <a:prstGeom prst="rect">
            <a:avLst/>
          </a:prstGeom>
          <a:solidFill>
            <a:srgbClr val="F5F0F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465B6A-A513-44F3-94F0-89212131A469}"/>
              </a:ext>
            </a:extLst>
          </p:cNvPr>
          <p:cNvSpPr>
            <a:spLocks noGrp="1"/>
          </p:cNvSpPr>
          <p:nvPr/>
        </p:nvSpPr>
        <p:spPr>
          <a:xfrm>
            <a:off x="4762500" y="1800225"/>
            <a:ext cx="2686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CM1</a:t>
            </a:r>
          </a:p>
          <a:p>
            <a: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Cluster manager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6BE8CC-68A0-4A0E-B5D6-81439C012DA8}"/>
              </a:ext>
            </a:extLst>
          </p:cNvPr>
          <p:cNvSpPr>
            <a:spLocks noGrp="1"/>
          </p:cNvSpPr>
          <p:nvPr/>
        </p:nvSpPr>
        <p:spPr>
          <a:xfrm>
            <a:off x="2286000" y="4876800"/>
            <a:ext cx="7715250" cy="714375"/>
          </a:xfrm>
          <a:prstGeom prst="rect">
            <a:avLst/>
          </a:prstGeom>
          <a:solidFill>
            <a:srgbClr val="F5F0F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7CFC8C-9700-4A08-99FB-FCD6B277B262}"/>
              </a:ext>
            </a:extLst>
          </p:cNvPr>
          <p:cNvSpPr>
            <a:spLocks noGrp="1"/>
          </p:cNvSpPr>
          <p:nvPr/>
        </p:nvSpPr>
        <p:spPr>
          <a:xfrm>
            <a:off x="2419350" y="5095875"/>
            <a:ext cx="74485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MC1: deployment server, license manager, monitoring console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031B7E-6C5B-48DC-93E3-30CCBFF925E2}"/>
              </a:ext>
            </a:extLst>
          </p:cNvPr>
          <p:cNvSpPr>
            <a:spLocks noGrp="1"/>
          </p:cNvSpPr>
          <p:nvPr/>
        </p:nvSpPr>
        <p:spPr>
          <a:xfrm>
            <a:off x="2952750" y="3286125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4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4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4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4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4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4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4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4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4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4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4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Data flow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0515F5-CE21-4302-BB5E-2C0FD18C5295}"/>
              </a:ext>
            </a:extLst>
          </p:cNvPr>
          <p:cNvSpPr>
            <a:spLocks noGrp="1"/>
          </p:cNvSpPr>
          <p:nvPr/>
        </p:nvSpPr>
        <p:spPr>
          <a:xfrm>
            <a:off x="7781925" y="3286125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4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4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4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4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4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4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4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4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4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4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4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Searches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B7B74A-3D19-4AD4-85B9-EE54CE2C458D}"/>
              </a:ext>
            </a:extLst>
          </p:cNvPr>
          <p:cNvSpPr>
            <a:spLocks noGrp="1"/>
          </p:cNvSpPr>
          <p:nvPr/>
        </p:nvSpPr>
        <p:spPr>
          <a:xfrm>
            <a:off x="533400" y="5812878"/>
            <a:ext cx="11125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7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7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7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7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7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7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7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7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7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57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dirty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Lab cluster: replication factor 2, search factor 2. One host still means one physical failure domain.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9F2A09D-DFC0-391E-E3A6-F1E696C74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6143625"/>
            <a:ext cx="1331177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186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A77E18A-CC70-452B-A495-0B8FB18F6D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57300"/>
          </a:xfrm>
          <a:prstGeom prst="rect">
            <a:avLst/>
          </a:prstGeom>
          <a:solidFill>
            <a:srgbClr val="2D2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570646-B39D-4588-9C23-DE87EB24259B}"/>
              </a:ext>
            </a:extLst>
          </p:cNvPr>
          <p:cNvSpPr>
            <a:spLocks noGrp="1"/>
          </p:cNvSpPr>
          <p:nvPr/>
        </p:nvSpPr>
        <p:spPr>
          <a:xfrm>
            <a:off x="11163300" y="0"/>
            <a:ext cx="266700" cy="1457325"/>
          </a:xfrm>
          <a:prstGeom prst="rect">
            <a:avLst/>
          </a:prstGeom>
          <a:solidFill>
            <a:srgbClr val="BB16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105945-D548-4562-9613-B5A5B45EB8CC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382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starting resource budget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E994C9-AE32-4667-BEC3-F7597099C814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28455AF-C378-41E4-BC38-44326D7875DF}"/>
              </a:ext>
            </a:extLst>
          </p:cNvPr>
          <p:cNvGraphicFramePr/>
          <p:nvPr/>
        </p:nvGraphicFramePr>
        <p:xfrm>
          <a:off x="533400" y="1714500"/>
          <a:ext cx="11125200" cy="3962399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057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VM role</a:t>
                      </a:r>
                    </a:p>
                  </a:txBody>
                  <a:tcPr>
                    <a:lnL w="9525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2D2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Count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2D2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vCPU / VM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2D2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RAM / VM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2D2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Disk / VM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2D2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CM1</a:t>
                      </a:r>
                    </a:p>
                  </a:txBody>
                  <a:tcPr>
                    <a:lnL w="9525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 GB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 GB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IDX1–IDX3</a:t>
                      </a:r>
                    </a:p>
                  </a:txBody>
                  <a:tcPr>
                    <a:lnL w="9525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 GB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120 GB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SH1</a:t>
                      </a:r>
                    </a:p>
                  </a:txBody>
                  <a:tcPr>
                    <a:lnL w="9525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 GB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 GB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MC1 (DS / LM / MC)</a:t>
                      </a:r>
                    </a:p>
                  </a:txBody>
                  <a:tcPr>
                    <a:lnL w="9525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 GB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 GB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UF1–UF2</a:t>
                      </a:r>
                    </a:p>
                  </a:txBody>
                  <a:tcPr>
                    <a:lnL w="9525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GB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 GB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Guest allocation</a:t>
                      </a:r>
                    </a:p>
                  </a:txBody>
                  <a:tcPr>
                    <a:lnL w="9525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22 total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46 GB total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560 GB total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DB463C8-4E09-4F85-A029-AE1B337958E1}"/>
              </a:ext>
            </a:extLst>
          </p:cNvPr>
          <p:cNvSpPr>
            <a:spLocks noGrp="1"/>
          </p:cNvSpPr>
          <p:nvPr/>
        </p:nvSpPr>
        <p:spPr>
          <a:xfrm>
            <a:off x="595312" y="5867400"/>
            <a:ext cx="11001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7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7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7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7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7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7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7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7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7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57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dirty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64 GB host RAM leaves room for </a:t>
            </a:r>
            <a:r>
              <a:rPr sz="1575" b="0" dirty="0" err="1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Proxmox</a:t>
            </a:r>
            <a:r>
              <a:rPr sz="1575" b="0" dirty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 and overhead. vCPU totals assume light lab use.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4F4C88-0814-7296-DAC7-3810D6624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6143625"/>
            <a:ext cx="1331177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661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98D73AC-F671-421C-B804-9F5FA39EE9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57300"/>
          </a:xfrm>
          <a:prstGeom prst="rect">
            <a:avLst/>
          </a:prstGeom>
          <a:solidFill>
            <a:srgbClr val="2D2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8888C4-427B-4D7A-975D-B885971C2B2C}"/>
              </a:ext>
            </a:extLst>
          </p:cNvPr>
          <p:cNvSpPr>
            <a:spLocks noGrp="1"/>
          </p:cNvSpPr>
          <p:nvPr/>
        </p:nvSpPr>
        <p:spPr>
          <a:xfrm>
            <a:off x="11163300" y="0"/>
            <a:ext cx="266700" cy="1457325"/>
          </a:xfrm>
          <a:prstGeom prst="rect">
            <a:avLst/>
          </a:prstGeom>
          <a:solidFill>
            <a:srgbClr val="BB16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CCAC3F-A8D6-4696-A8F1-C8E3A485FC0D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382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Licensing needs an early plan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3CBEA8-6DC5-484B-A30D-99C3792FC787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EADF00-EFC0-470F-ABCD-D0AF4920ADCC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The Enterprise trial lasts 60 days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46FDE4-8690-4D8E-B6E7-F79B42C71664}"/>
              </a:ext>
            </a:extLst>
          </p:cNvPr>
          <p:cNvSpPr>
            <a:spLocks noGrp="1"/>
          </p:cNvSpPr>
          <p:nvPr/>
        </p:nvSpPr>
        <p:spPr>
          <a:xfrm>
            <a:off x="552450" y="208597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The standard trial allows 500 MB/day. January 9–March 13 spans 63 days.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5E54D9-A0B7-4BDD-9F7F-05F8F3691B6A}"/>
              </a:ext>
            </a:extLst>
          </p:cNvPr>
          <p:cNvSpPr>
            <a:spLocks noGrp="1"/>
          </p:cNvSpPr>
          <p:nvPr/>
        </p:nvSpPr>
        <p:spPr>
          <a:xfrm>
            <a:off x="552450" y="273367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A license must cover the entire cluster lab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C71744-4FFA-4B6E-9EA3-193408593A5C}"/>
              </a:ext>
            </a:extLst>
          </p:cNvPr>
          <p:cNvSpPr>
            <a:spLocks noGrp="1"/>
          </p:cNvSpPr>
          <p:nvPr/>
        </p:nvSpPr>
        <p:spPr>
          <a:xfrm>
            <a:off x="552450" y="308610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Arrange an authorized training or other eligible license before the lab begins.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D8D708-681B-4FA7-B25A-6A074C77C2FF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Developer licenses have a specific purpose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B0723D-FAFE-45CD-8740-798342C53842}"/>
              </a:ext>
            </a:extLst>
          </p:cNvPr>
          <p:cNvSpPr>
            <a:spLocks noGrp="1"/>
          </p:cNvSpPr>
          <p:nvPr/>
        </p:nvSpPr>
        <p:spPr>
          <a:xfrm>
            <a:off x="552450" y="408622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The 10 GB/day developer program is for eligible app development and requires approval.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2B0493-5AA7-4828-B2CD-9090EC169FBB}"/>
              </a:ext>
            </a:extLst>
          </p:cNvPr>
          <p:cNvSpPr>
            <a:spLocks noGrp="1"/>
          </p:cNvSpPr>
          <p:nvPr/>
        </p:nvSpPr>
        <p:spPr>
          <a:xfrm>
            <a:off x="552450" y="473392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Splunk Free is not the cluster fallback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1A4466-5C7B-432A-87F1-3A06B623B612}"/>
              </a:ext>
            </a:extLst>
          </p:cNvPr>
          <p:cNvSpPr>
            <a:spLocks noGrp="1"/>
          </p:cNvSpPr>
          <p:nvPr/>
        </p:nvSpPr>
        <p:spPr>
          <a:xfrm>
            <a:off x="552450" y="508635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Its standalone scope does not replace the Enterprise features required by this curriculum.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D82E42-7A2D-F8A1-0B97-348D5F585EAE}"/>
              </a:ext>
            </a:extLst>
          </p:cNvPr>
          <p:cNvSpPr>
            <a:spLocks noGrp="1"/>
          </p:cNvSpPr>
          <p:nvPr/>
        </p:nvSpPr>
        <p:spPr>
          <a:xfrm>
            <a:off x="552450" y="5810250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pPr>
            <a:r>
              <a:rPr dirty="0">
                <a:hlinkClick r:id="rId3"/>
              </a:rPr>
              <a:t>Re</a:t>
            </a:r>
            <a:r>
              <a:rPr dirty="0">
                <a:hlinkClick r:id="rId3"/>
              </a:rPr>
              <a:t>quest Dev License - https://dev.splunk.com/developer-program/</a:t>
            </a:r>
            <a:endParaRPr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B65F241-6951-33CF-E117-9C3E1077FA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" y="6143625"/>
            <a:ext cx="1331177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445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7076056-F3CD-4C7E-B090-E194840514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57300"/>
          </a:xfrm>
          <a:prstGeom prst="rect">
            <a:avLst/>
          </a:prstGeom>
          <a:solidFill>
            <a:srgbClr val="2D2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753FFF-1D1C-44F6-AD47-EF9C84E6D2F9}"/>
              </a:ext>
            </a:extLst>
          </p:cNvPr>
          <p:cNvSpPr>
            <a:spLocks noGrp="1"/>
          </p:cNvSpPr>
          <p:nvPr/>
        </p:nvSpPr>
        <p:spPr>
          <a:xfrm>
            <a:off x="11163300" y="0"/>
            <a:ext cx="266700" cy="1457325"/>
          </a:xfrm>
          <a:prstGeom prst="rect">
            <a:avLst/>
          </a:prstGeom>
          <a:solidFill>
            <a:srgbClr val="BB16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78A1E0-8654-4C79-BDF4-F3F77BEB6460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382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Before the first official class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5051D1-E212-4285-9299-BF44725D3287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5BEC0B-917D-473B-8876-76558EAF110C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Accounts and access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7A1F08-3DDA-4100-9A35-70D990E1DD9A}"/>
              </a:ext>
            </a:extLst>
          </p:cNvPr>
          <p:cNvSpPr>
            <a:spLocks noGrp="1"/>
          </p:cNvSpPr>
          <p:nvPr/>
        </p:nvSpPr>
        <p:spPr>
          <a:xfrm>
            <a:off x="552450" y="208597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Create your Splunk account. Confirm download access, course resources, and license eligibility.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314D3B-EEAA-478F-B274-F9CACBCCCE2B}"/>
              </a:ext>
            </a:extLst>
          </p:cNvPr>
          <p:cNvSpPr>
            <a:spLocks noGrp="1"/>
          </p:cNvSpPr>
          <p:nvPr/>
        </p:nvSpPr>
        <p:spPr>
          <a:xfrm>
            <a:off x="552450" y="273367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Hardware and network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592C08-AFCA-4539-BDC5-55F94B4AF9A1}"/>
              </a:ext>
            </a:extLst>
          </p:cNvPr>
          <p:cNvSpPr>
            <a:spLocks noGrp="1"/>
          </p:cNvSpPr>
          <p:nvPr/>
        </p:nvSpPr>
        <p:spPr>
          <a:xfrm>
            <a:off x="552450" y="308610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Confirm capacity, wired connectivity, virtualization support, and a private IP plan.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56AB98-CC6D-49A2-97ED-5A5549FD2B73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Safe installation preparation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CA56BD-783F-4726-BDC1-FB8B4B240B7C}"/>
              </a:ext>
            </a:extLst>
          </p:cNvPr>
          <p:cNvSpPr>
            <a:spLocks noGrp="1"/>
          </p:cNvSpPr>
          <p:nvPr/>
        </p:nvSpPr>
        <p:spPr>
          <a:xfrm>
            <a:off x="552450" y="408622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Back up the server’s existing data. Proxmox installation can erase the selected disk.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FC6B7E-BFAE-496D-9BCA-B869BBA227D8}"/>
              </a:ext>
            </a:extLst>
          </p:cNvPr>
          <p:cNvSpPr>
            <a:spLocks noGrp="1"/>
          </p:cNvSpPr>
          <p:nvPr/>
        </p:nvSpPr>
        <p:spPr>
          <a:xfrm>
            <a:off x="552450" y="473392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Downloads and documentation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FBA451-60CE-4478-9802-9C5FB8BF2046}"/>
              </a:ext>
            </a:extLst>
          </p:cNvPr>
          <p:cNvSpPr>
            <a:spLocks noGrp="1"/>
          </p:cNvSpPr>
          <p:nvPr/>
        </p:nvSpPr>
        <p:spPr>
          <a:xfrm>
            <a:off x="552450" y="508635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Prepare Proxmox media and an instructor-approved Linux ISO. Keep an IP and hostname inventory.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53E8892-D937-D945-D7B4-40189CB7A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6143625"/>
            <a:ext cx="1331177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30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1DFDFF-4B76-4DD5-A87D-11C83D1646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57300"/>
          </a:xfrm>
          <a:prstGeom prst="rect">
            <a:avLst/>
          </a:prstGeom>
          <a:solidFill>
            <a:srgbClr val="2D2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F61B5D-CE5C-44D5-95A0-D3224989194B}"/>
              </a:ext>
            </a:extLst>
          </p:cNvPr>
          <p:cNvSpPr>
            <a:spLocks noGrp="1"/>
          </p:cNvSpPr>
          <p:nvPr/>
        </p:nvSpPr>
        <p:spPr>
          <a:xfrm>
            <a:off x="11163300" y="0"/>
            <a:ext cx="266700" cy="1457325"/>
          </a:xfrm>
          <a:prstGeom prst="rect">
            <a:avLst/>
          </a:prstGeom>
          <a:solidFill>
            <a:srgbClr val="BB16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8CD84C-CFBB-4FCF-9D26-1D0CF80FD2DB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382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The ten-Saturday curriculum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41C359-4F83-40AE-922B-331703EFBB15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520DBA0-A93D-40B5-84B0-1ED736CFA26D}"/>
              </a:ext>
            </a:extLst>
          </p:cNvPr>
          <p:cNvGraphicFramePr/>
          <p:nvPr/>
        </p:nvGraphicFramePr>
        <p:xfrm>
          <a:off x="533400" y="1714500"/>
          <a:ext cx="11125200" cy="4048128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46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Date</a:t>
                      </a:r>
                    </a:p>
                  </a:txBody>
                  <a:tcPr>
                    <a:lnL w="9525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2D2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Session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2D2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Lab outcome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2D2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Jan 9</a:t>
                      </a:r>
                    </a:p>
                  </a:txBody>
                  <a:tcPr>
                    <a:lnL w="9525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Proxmox and virtual machines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Eight Linux VMs, networking, snapshot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Jan 16</a:t>
                      </a:r>
                    </a:p>
                  </a:txBody>
                  <a:tcPr>
                    <a:lnL w="9525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Distributed Splunk architecture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Installed roles and working cluster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Jan 23</a:t>
                      </a:r>
                    </a:p>
                  </a:txBody>
                  <a:tcPr>
                    <a:lnL w="9525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Forwarders and data onboarding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Validated os, network, gamelog inputs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Jan 30</a:t>
                      </a:r>
                    </a:p>
                  </a:txBody>
                  <a:tcPr>
                    <a:lnL w="9525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SPL and field knowledge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Reusable searches and extractions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Feb 6</a:t>
                      </a:r>
                    </a:p>
                  </a:txBody>
                  <a:tcPr>
                    <a:lnL w="9525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Dashboard Studio and reports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Three dashboards with drilldowns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74292A9A-B4E5-7538-6D3A-1FF48F175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6143625"/>
            <a:ext cx="1331177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474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690BF3C-A23A-4688-A005-80F2964A63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57300"/>
          </a:xfrm>
          <a:prstGeom prst="rect">
            <a:avLst/>
          </a:prstGeom>
          <a:solidFill>
            <a:srgbClr val="2D2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E016FB-2D3E-4C19-9AFA-2F7E06846B19}"/>
              </a:ext>
            </a:extLst>
          </p:cNvPr>
          <p:cNvSpPr>
            <a:spLocks noGrp="1"/>
          </p:cNvSpPr>
          <p:nvPr/>
        </p:nvSpPr>
        <p:spPr>
          <a:xfrm>
            <a:off x="11163300" y="0"/>
            <a:ext cx="266700" cy="1457325"/>
          </a:xfrm>
          <a:prstGeom prst="rect">
            <a:avLst/>
          </a:prstGeom>
          <a:solidFill>
            <a:srgbClr val="BB16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9EC2AC-71E3-4D6C-9E6D-718A1E9D8649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382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The ten-Saturday curriculum, continued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93BD43-99EB-4A92-B313-D7F1EBCD7A99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113F5C-A1BC-4232-BFE1-DEFA4A9A5D94}"/>
              </a:ext>
            </a:extLst>
          </p:cNvPr>
          <p:cNvGraphicFramePr/>
          <p:nvPr/>
        </p:nvGraphicFramePr>
        <p:xfrm>
          <a:off x="533400" y="1714500"/>
          <a:ext cx="11125200" cy="4048128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46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Date</a:t>
                      </a:r>
                    </a:p>
                  </a:txBody>
                  <a:tcPr>
                    <a:lnL w="9525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2D2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Session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2D2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Lab outcome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2D2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Feb 13</a:t>
                      </a:r>
                    </a:p>
                  </a:txBody>
                  <a:tcPr>
                    <a:lnL w="9525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Alerts, CIM and security use cases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Scheduled detections and CIM mapping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Feb 20</a:t>
                      </a:r>
                    </a:p>
                  </a:txBody>
                  <a:tcPr>
                    <a:lnL w="9525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Administration and automation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RBAC, configuration apps, REST exercise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Feb 27</a:t>
                      </a:r>
                    </a:p>
                  </a:txBody>
                  <a:tcPr>
                    <a:lnL w="9525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Health, performance and recovery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Failure drill and troubleshooting runbook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Mar 6</a:t>
                      </a:r>
                    </a:p>
                  </a:txBody>
                  <a:tcPr>
                    <a:lnL w="9525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Modern Splunk capabilities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SPL exercise and feature demonstrations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Mar 13</a:t>
                      </a:r>
                    </a:p>
                  </a:txBody>
                  <a:tcPr>
                    <a:lnL w="9525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Capstone demonstration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233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Working deployment and final handoff</a:t>
                      </a:r>
                    </a:p>
                  </a:txBody>
                  <a:tcPr>
                    <a:lnL w="9525" cmpd="sng">
                      <a:solidFill>
                        <a:srgbClr val="DDD5E5"/>
                      </a:solidFill>
                      <a:prstDash val="solid"/>
                    </a:lnL>
                    <a:lnR w="9525">
                      <a:solidFill>
                        <a:srgbClr val="DDD5E5"/>
                      </a:solidFill>
                      <a:prstDash val="solid"/>
                    </a:lnR>
                    <a:lnT w="9525" cmpd="sng">
                      <a:solidFill>
                        <a:srgbClr val="DDD5E5"/>
                      </a:solidFill>
                      <a:prstDash val="solid"/>
                    </a:lnT>
                    <a:lnB w="9525">
                      <a:solidFill>
                        <a:srgbClr val="DDD5E5"/>
                      </a:solidFill>
                      <a:prstDash val="solid"/>
                    </a:lnB>
                    <a:solidFill>
                      <a:srgbClr val="F5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D564584F-DD62-A7A6-D833-D26F68AD4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6143625"/>
            <a:ext cx="1331177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832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E41AC7D-0F48-43A7-9AA6-AB600FF257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57300"/>
          </a:xfrm>
          <a:prstGeom prst="rect">
            <a:avLst/>
          </a:prstGeom>
          <a:solidFill>
            <a:srgbClr val="2D2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BA9AD7-ADF2-4230-8D65-7D40B6DDB7D1}"/>
              </a:ext>
            </a:extLst>
          </p:cNvPr>
          <p:cNvSpPr>
            <a:spLocks noGrp="1"/>
          </p:cNvSpPr>
          <p:nvPr/>
        </p:nvSpPr>
        <p:spPr>
          <a:xfrm>
            <a:off x="11163300" y="0"/>
            <a:ext cx="266700" cy="1457325"/>
          </a:xfrm>
          <a:prstGeom prst="rect">
            <a:avLst/>
          </a:prstGeom>
          <a:solidFill>
            <a:srgbClr val="BB16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5575BA-DB28-454F-A466-09E24F58C7D8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382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January 9: Proxmox and Linux foundations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71895A-B23E-4589-865E-541FA59D7AED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65D5BA-9069-460A-996A-19DE9282EA57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Build the virtualization host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40B156-8EE5-41A4-97DF-D41AAB9D097D}"/>
              </a:ext>
            </a:extLst>
          </p:cNvPr>
          <p:cNvSpPr>
            <a:spLocks noGrp="1"/>
          </p:cNvSpPr>
          <p:nvPr/>
        </p:nvSpPr>
        <p:spPr>
          <a:xfrm>
            <a:off x="552450" y="208597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Install Proxmox VE, configure storage and a network bridge, and confirm management access.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84C612-9033-4124-A34D-18C8C07A55A5}"/>
              </a:ext>
            </a:extLst>
          </p:cNvPr>
          <p:cNvSpPr>
            <a:spLocks noGrp="1"/>
          </p:cNvSpPr>
          <p:nvPr/>
        </p:nvSpPr>
        <p:spPr>
          <a:xfrm>
            <a:off x="552450" y="273367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Create the eight Linux VMs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EB4B02-8CB8-4224-AA8B-D02050FDE857}"/>
              </a:ext>
            </a:extLst>
          </p:cNvPr>
          <p:cNvSpPr>
            <a:spLocks noGrp="1"/>
          </p:cNvSpPr>
          <p:nvPr/>
        </p:nvSpPr>
        <p:spPr>
          <a:xfrm>
            <a:off x="552450" y="308610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Use templates or clones, unique hostnames, private addresses, DNS/hosts resolution, and time sync.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6EADE6-B046-4794-B62C-CE1AE35EA8C7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Establish a safe baseline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4246F7-8690-48A4-8A4F-705CC427AB6D}"/>
              </a:ext>
            </a:extLst>
          </p:cNvPr>
          <p:cNvSpPr>
            <a:spLocks noGrp="1"/>
          </p:cNvSpPr>
          <p:nvPr/>
        </p:nvSpPr>
        <p:spPr>
          <a:xfrm>
            <a:off x="552450" y="408622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Configure SSH access, updates, a dedicated Splunk service account, and a recovery snapshot.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BFEBE5-2609-41BD-B7AB-FB1D59B966B0}"/>
              </a:ext>
            </a:extLst>
          </p:cNvPr>
          <p:cNvSpPr>
            <a:spLocks noGrp="1"/>
          </p:cNvSpPr>
          <p:nvPr/>
        </p:nvSpPr>
        <p:spPr>
          <a:xfrm>
            <a:off x="552450" y="473392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Evidence to submit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C8EE64-1623-48A2-B481-688461A3960E}"/>
              </a:ext>
            </a:extLst>
          </p:cNvPr>
          <p:cNvSpPr>
            <a:spLocks noGrp="1"/>
          </p:cNvSpPr>
          <p:nvPr/>
        </p:nvSpPr>
        <p:spPr>
          <a:xfrm>
            <a:off x="552450" y="508635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VM inventory, IP map, successful SSH tests, and a documented restore procedure.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10FEBB8-AA71-3408-77A2-A4A6909BD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6143625"/>
            <a:ext cx="1331177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708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A4FFA30-F4E2-4BA6-8EC4-D67E8EB8AC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57300"/>
          </a:xfrm>
          <a:prstGeom prst="rect">
            <a:avLst/>
          </a:prstGeom>
          <a:solidFill>
            <a:srgbClr val="2D2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2DF48C-908B-4C58-9D76-C7EC8B39EF7F}"/>
              </a:ext>
            </a:extLst>
          </p:cNvPr>
          <p:cNvSpPr>
            <a:spLocks noGrp="1"/>
          </p:cNvSpPr>
          <p:nvPr/>
        </p:nvSpPr>
        <p:spPr>
          <a:xfrm>
            <a:off x="11163300" y="0"/>
            <a:ext cx="266700" cy="1457325"/>
          </a:xfrm>
          <a:prstGeom prst="rect">
            <a:avLst/>
          </a:prstGeom>
          <a:solidFill>
            <a:srgbClr val="BB16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170066-236C-4095-919A-5BDAA3FE0845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382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January 16: The Splunk architecture build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2A4D64-B7C5-4D5D-A488-9EF6F90D9A06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3FF259-CF39-46D0-AABE-65CAAAB37C14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Install and assign roles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B5DFBB-4907-4F48-AE18-1B05C6DD0083}"/>
              </a:ext>
            </a:extLst>
          </p:cNvPr>
          <p:cNvSpPr>
            <a:spLocks noGrp="1"/>
          </p:cNvSpPr>
          <p:nvPr/>
        </p:nvSpPr>
        <p:spPr>
          <a:xfrm>
            <a:off x="552450" y="208597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Install Enterprise on CM1, IDX1–IDX3, SH1 and MC1. Install Universal Forwarder on UF1 and UF2.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EB3664-058F-46D2-BC43-4C4A84EA2036}"/>
              </a:ext>
            </a:extLst>
          </p:cNvPr>
          <p:cNvSpPr>
            <a:spLocks noGrp="1"/>
          </p:cNvSpPr>
          <p:nvPr/>
        </p:nvSpPr>
        <p:spPr>
          <a:xfrm>
            <a:off x="552450" y="273367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Configure the cluster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4BAD22-359D-470E-8493-D7477C456096}"/>
              </a:ext>
            </a:extLst>
          </p:cNvPr>
          <p:cNvSpPr>
            <a:spLocks noGrp="1"/>
          </p:cNvSpPr>
          <p:nvPr/>
        </p:nvSpPr>
        <p:spPr>
          <a:xfrm>
            <a:off x="552450" y="308610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Set RF=2 and SF=2, connect SH1, and deploy os, network and gamelog as replicated indexes.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CFD650-0DB8-47E1-BF14-8AB517786FF1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Connect management and forwarding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858C62-0692-42B8-A524-24C045B71045}"/>
              </a:ext>
            </a:extLst>
          </p:cNvPr>
          <p:cNvSpPr>
            <a:spLocks noGrp="1"/>
          </p:cNvSpPr>
          <p:nvPr/>
        </p:nvSpPr>
        <p:spPr>
          <a:xfrm>
            <a:off x="552450" y="408622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Configure MC1 licensing, deployment services and monitoring. Forward internal logs centrally.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5AFB6F-8FF4-4DFD-9F53-52F7D99DE8E4}"/>
              </a:ext>
            </a:extLst>
          </p:cNvPr>
          <p:cNvSpPr>
            <a:spLocks noGrp="1"/>
          </p:cNvSpPr>
          <p:nvPr/>
        </p:nvSpPr>
        <p:spPr>
          <a:xfrm>
            <a:off x="552450" y="473392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Evidence to submit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42F1E0-DABC-40C5-A410-0FDC56976BE0}"/>
              </a:ext>
            </a:extLst>
          </p:cNvPr>
          <p:cNvSpPr>
            <a:spLocks noGrp="1"/>
          </p:cNvSpPr>
          <p:nvPr/>
        </p:nvSpPr>
        <p:spPr>
          <a:xfrm>
            <a:off x="552450" y="508635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Healthy cluster, searchable test events, forwarder connectivity, and Monitoring Console visibility.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1232251-039C-D520-EC64-D63F9FEC4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6143625"/>
            <a:ext cx="1331177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480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6414111-0DBE-474A-8D5C-2C54EB94F0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57300"/>
          </a:xfrm>
          <a:prstGeom prst="rect">
            <a:avLst/>
          </a:prstGeom>
          <a:solidFill>
            <a:srgbClr val="2D2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5A3C25-8F21-42DD-8A58-BE2105E68F71}"/>
              </a:ext>
            </a:extLst>
          </p:cNvPr>
          <p:cNvSpPr>
            <a:spLocks noGrp="1"/>
          </p:cNvSpPr>
          <p:nvPr/>
        </p:nvSpPr>
        <p:spPr>
          <a:xfrm>
            <a:off x="11163300" y="0"/>
            <a:ext cx="266700" cy="1457325"/>
          </a:xfrm>
          <a:prstGeom prst="rect">
            <a:avLst/>
          </a:prstGeom>
          <a:solidFill>
            <a:srgbClr val="BB16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E250E2-C626-4156-8D78-664DCF31A42C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382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January 23: Data onboarding that scales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FD477A-B30A-4C4B-B641-865B4A5548F9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14572A-7D6A-4C76-8A37-20DCA4F1629C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Deploy inputs through apps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870610-EB68-4D88-9FB3-74DD6485D1D7}"/>
              </a:ext>
            </a:extLst>
          </p:cNvPr>
          <p:cNvSpPr>
            <a:spLocks noGrp="1"/>
          </p:cNvSpPr>
          <p:nvPr/>
        </p:nvSpPr>
        <p:spPr>
          <a:xfrm>
            <a:off x="552450" y="208597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Use server classes and UF configuration apps. Understand where parsing and search-time settings belong.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E57C4F-72B5-4115-9834-809CB83EC35C}"/>
              </a:ext>
            </a:extLst>
          </p:cNvPr>
          <p:cNvSpPr>
            <a:spLocks noGrp="1"/>
          </p:cNvSpPr>
          <p:nvPr/>
        </p:nvSpPr>
        <p:spPr>
          <a:xfrm>
            <a:off x="552450" y="273367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Work with the lab 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2AC96-580A-4C80-A766-60E38C2F3E2F}"/>
              </a:ext>
            </a:extLst>
          </p:cNvPr>
          <p:cNvSpPr>
            <a:spLocks noGrp="1"/>
          </p:cNvSpPr>
          <p:nvPr/>
        </p:nvSpPr>
        <p:spPr>
          <a:xfrm>
            <a:off x="552450" y="308610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Onboard Linux logs, web access logs, Cisco web/mail logs, and the game XML dataset.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576F8E-9665-4F08-8B74-EBA1405EA946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Validate before production-style routing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1C3286-14AF-40AC-A6B1-4C0EC8E40C11}"/>
              </a:ext>
            </a:extLst>
          </p:cNvPr>
          <p:cNvSpPr>
            <a:spLocks noGrp="1"/>
          </p:cNvSpPr>
          <p:nvPr/>
        </p:nvSpPr>
        <p:spPr>
          <a:xfrm>
            <a:off x="552450" y="408622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Check event boundaries, timestamps, time zones, host, source and sourcetype in a test index first.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E0DF26-DDD4-4DD4-8556-CFE0630FDB26}"/>
              </a:ext>
            </a:extLst>
          </p:cNvPr>
          <p:cNvSpPr>
            <a:spLocks noGrp="1"/>
          </p:cNvSpPr>
          <p:nvPr/>
        </p:nvSpPr>
        <p:spPr>
          <a:xfrm>
            <a:off x="552450" y="473392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Evidence to submit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9FAF21-0A67-4DE1-9BDD-3F5A4C85505D}"/>
              </a:ext>
            </a:extLst>
          </p:cNvPr>
          <p:cNvSpPr>
            <a:spLocks noGrp="1"/>
          </p:cNvSpPr>
          <p:nvPr/>
        </p:nvSpPr>
        <p:spPr>
          <a:xfrm>
            <a:off x="552450" y="508635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An input inventory and validation searches for os, network and gamelog. Add an HEC exercise.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E96C417-4CD5-1B4C-E134-DE5A3266C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6143625"/>
            <a:ext cx="1331177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394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5D4E854-56F7-4009-82CC-AD780EFCE7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57300"/>
          </a:xfrm>
          <a:prstGeom prst="rect">
            <a:avLst/>
          </a:prstGeom>
          <a:solidFill>
            <a:srgbClr val="2D2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A37D3E-3B6F-49E0-ACBA-FED82F0788B8}"/>
              </a:ext>
            </a:extLst>
          </p:cNvPr>
          <p:cNvSpPr>
            <a:spLocks noGrp="1"/>
          </p:cNvSpPr>
          <p:nvPr/>
        </p:nvSpPr>
        <p:spPr>
          <a:xfrm>
            <a:off x="11163300" y="0"/>
            <a:ext cx="266700" cy="1457325"/>
          </a:xfrm>
          <a:prstGeom prst="rect">
            <a:avLst/>
          </a:prstGeom>
          <a:solidFill>
            <a:srgbClr val="BB16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FAEA1E-16DE-4FFB-BDBB-4B952511E074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382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January 30: SPL and knowledge objects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7141F6-496A-4962-8C6D-A68C31B91BB5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6FAC4F-00CA-4594-B000-9C97C09BE176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Search efficiently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25F9E6-9B06-4C00-92E8-DC708D941D89}"/>
              </a:ext>
            </a:extLst>
          </p:cNvPr>
          <p:cNvSpPr>
            <a:spLocks noGrp="1"/>
          </p:cNvSpPr>
          <p:nvPr/>
        </p:nvSpPr>
        <p:spPr>
          <a:xfrm>
            <a:off x="552450" y="208597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Use search, where, eval, stats, eventstats, timechart and time functions with explicit time ranges.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97A981-4C07-41B5-B229-11ACE0B917A0}"/>
              </a:ext>
            </a:extLst>
          </p:cNvPr>
          <p:cNvSpPr>
            <a:spLocks noGrp="1"/>
          </p:cNvSpPr>
          <p:nvPr/>
        </p:nvSpPr>
        <p:spPr>
          <a:xfrm>
            <a:off x="552450" y="273367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Extract and enrich fields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AFCBE1-5359-4C5C-A5CD-A51AC13CCA07}"/>
              </a:ext>
            </a:extLst>
          </p:cNvPr>
          <p:cNvSpPr>
            <a:spLocks noGrp="1"/>
          </p:cNvSpPr>
          <p:nvPr/>
        </p:nvSpPr>
        <p:spPr>
          <a:xfrm>
            <a:off x="552450" y="308610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Practice rex and spath, then create reusable extractions, lookups, aliases and calculated fields.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DE1576-D7A4-4B7F-8AAA-E95CA807E578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Reuse and correlate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5FA827-7B8B-4798-AEBA-7B0A291229CD}"/>
              </a:ext>
            </a:extLst>
          </p:cNvPr>
          <p:cNvSpPr>
            <a:spLocks noGrp="1"/>
          </p:cNvSpPr>
          <p:nvPr/>
        </p:nvSpPr>
        <p:spPr>
          <a:xfrm>
            <a:off x="552450" y="408622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Build macros, tags and event types. Compare stats-based correlation with transaction and join.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9363B7-5F75-4D6D-9447-F53DCB1214D9}"/>
              </a:ext>
            </a:extLst>
          </p:cNvPr>
          <p:cNvSpPr>
            <a:spLocks noGrp="1"/>
          </p:cNvSpPr>
          <p:nvPr/>
        </p:nvSpPr>
        <p:spPr>
          <a:xfrm>
            <a:off x="552450" y="473392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Evidence to submit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677966-036C-44E3-B82E-E1414EC78B64}"/>
              </a:ext>
            </a:extLst>
          </p:cNvPr>
          <p:cNvSpPr>
            <a:spLocks noGrp="1"/>
          </p:cNvSpPr>
          <p:nvPr/>
        </p:nvSpPr>
        <p:spPr>
          <a:xfrm>
            <a:off x="552450" y="508635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A tested search workbook with expected results, field definitions and correct object permissions.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4C44F55-2B99-126B-C79D-353CC7E60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6143625"/>
            <a:ext cx="1331177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876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D594402-EB80-4C42-B804-310AC214BA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57300"/>
          </a:xfrm>
          <a:prstGeom prst="rect">
            <a:avLst/>
          </a:prstGeom>
          <a:solidFill>
            <a:srgbClr val="2D2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57F282-12B8-4E15-B668-6FFA2DD82D09}"/>
              </a:ext>
            </a:extLst>
          </p:cNvPr>
          <p:cNvSpPr>
            <a:spLocks noGrp="1"/>
          </p:cNvSpPr>
          <p:nvPr/>
        </p:nvSpPr>
        <p:spPr>
          <a:xfrm>
            <a:off x="11163300" y="0"/>
            <a:ext cx="266700" cy="1457325"/>
          </a:xfrm>
          <a:prstGeom prst="rect">
            <a:avLst/>
          </a:prstGeom>
          <a:solidFill>
            <a:srgbClr val="BB16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171265-7952-45EA-A2AB-D74E0C4E4E85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382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February 6: Reports and Dashboard Studio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086AFC-5CDA-4E06-8A86-C574835AB054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AF2D5-35E9-4D7A-8986-6811A6B2C1AD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Build the required dashboards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A60ABA-C3CD-442E-B03A-2539915464AB}"/>
              </a:ext>
            </a:extLst>
          </p:cNvPr>
          <p:cNvSpPr>
            <a:spLocks noGrp="1"/>
          </p:cNvSpPr>
          <p:nvPr/>
        </p:nvSpPr>
        <p:spPr>
          <a:xfrm>
            <a:off x="552450" y="208597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Create OS, Network and Game Activity views based on the deployment lab reporting requirements.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469143-7361-4F12-86D8-C84BC70A03AB}"/>
              </a:ext>
            </a:extLst>
          </p:cNvPr>
          <p:cNvSpPr>
            <a:spLocks noGrp="1"/>
          </p:cNvSpPr>
          <p:nvPr/>
        </p:nvSpPr>
        <p:spPr>
          <a:xfrm>
            <a:off x="552450" y="273367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Make the dashboard interactive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2164EE-4708-47E2-A26F-0B4CD9944331}"/>
              </a:ext>
            </a:extLst>
          </p:cNvPr>
          <p:cNvSpPr>
            <a:spLocks noGrp="1"/>
          </p:cNvSpPr>
          <p:nvPr/>
        </p:nvSpPr>
        <p:spPr>
          <a:xfrm>
            <a:off x="552450" y="308610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Use inputs, tokens, drilldowns, base/chain searches, and clear empty-result behavior.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99FE1B-01EE-4074-AB21-F02FBF153604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Apply current Studio features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BEC544-8D6F-4711-AA02-5850BCF32D59}"/>
              </a:ext>
            </a:extLst>
          </p:cNvPr>
          <p:cNvSpPr>
            <a:spLocks noGrp="1"/>
          </p:cNvSpPr>
          <p:nvPr/>
        </p:nvSpPr>
        <p:spPr>
          <a:xfrm>
            <a:off x="552450" y="408622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Explore treemap, table interactions and JSON inspection where the selected lab version supports them.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18D882-EFC5-408B-AE12-87C057D05E8C}"/>
              </a:ext>
            </a:extLst>
          </p:cNvPr>
          <p:cNvSpPr>
            <a:spLocks noGrp="1"/>
          </p:cNvSpPr>
          <p:nvPr/>
        </p:nvSpPr>
        <p:spPr>
          <a:xfrm>
            <a:off x="552450" y="473392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Evidence to submit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1FB8A1-5173-4BA0-BDFD-19A9F52AD408}"/>
              </a:ext>
            </a:extLst>
          </p:cNvPr>
          <p:cNvSpPr>
            <a:spLocks noGrp="1"/>
          </p:cNvSpPr>
          <p:nvPr/>
        </p:nvSpPr>
        <p:spPr>
          <a:xfrm>
            <a:off x="552450" y="508635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Three shared dashboards with tested panels and reusable report searches.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8D0EE51-CC71-5B99-5036-E3FDF6275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6143625"/>
            <a:ext cx="1331177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27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79DAE33-3DE7-429E-B9FA-9E18C213DE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57300"/>
          </a:xfrm>
          <a:prstGeom prst="rect">
            <a:avLst/>
          </a:prstGeom>
          <a:solidFill>
            <a:srgbClr val="2D2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3D7E97-2E56-414C-884D-F4E054735B44}"/>
              </a:ext>
            </a:extLst>
          </p:cNvPr>
          <p:cNvSpPr>
            <a:spLocks noGrp="1"/>
          </p:cNvSpPr>
          <p:nvPr/>
        </p:nvSpPr>
        <p:spPr>
          <a:xfrm>
            <a:off x="11163300" y="0"/>
            <a:ext cx="266700" cy="1457325"/>
          </a:xfrm>
          <a:prstGeom prst="rect">
            <a:avLst/>
          </a:prstGeom>
          <a:solidFill>
            <a:srgbClr val="BB16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B02A00-6C57-45D7-95F9-29F90EEC16F6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382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February 13: Alerts and security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E1F991-87CC-4BCE-AB44-4403FBE53D48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0516EE-D167-4B7A-8205-2F339BB0C213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Turn a useful search into an alert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C993C0-85BA-4C98-ACF8-C0A8C1988AF9}"/>
              </a:ext>
            </a:extLst>
          </p:cNvPr>
          <p:cNvSpPr>
            <a:spLocks noGrp="1"/>
          </p:cNvSpPr>
          <p:nvPr/>
        </p:nvSpPr>
        <p:spPr>
          <a:xfrm>
            <a:off x="552450" y="208597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Set schedules, time windows, thresholds and throttling. Test actions using controlled sample events.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0F0D50-52BF-4097-9706-DF1D2951D14A}"/>
              </a:ext>
            </a:extLst>
          </p:cNvPr>
          <p:cNvSpPr>
            <a:spLocks noGrp="1"/>
          </p:cNvSpPr>
          <p:nvPr/>
        </p:nvSpPr>
        <p:spPr>
          <a:xfrm>
            <a:off x="552450" y="273367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Map data to CIM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F0132D-5C72-4951-AB64-CF6E673900D7}"/>
              </a:ext>
            </a:extLst>
          </p:cNvPr>
          <p:cNvSpPr>
            <a:spLocks noGrp="1"/>
          </p:cNvSpPr>
          <p:nvPr/>
        </p:nvSpPr>
        <p:spPr>
          <a:xfrm>
            <a:off x="552450" y="308610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Validate field names and tags. Compare raw searches with data models and accelerated tstats.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E3DEEC-0500-4FEA-881C-7AD195374904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Introduce detection engineering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441D8D-AF3C-4BA6-B654-815516AF59F2}"/>
              </a:ext>
            </a:extLst>
          </p:cNvPr>
          <p:cNvSpPr>
            <a:spLocks noGrp="1"/>
          </p:cNvSpPr>
          <p:nvPr/>
        </p:nvSpPr>
        <p:spPr>
          <a:xfrm>
            <a:off x="552450" y="408622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Write a failed-login use case, explain false positives, and connect it to a relevant ATT&amp;CK technique.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A0EC29-3BB4-4AFA-8EA9-F5BCA6089749}"/>
              </a:ext>
            </a:extLst>
          </p:cNvPr>
          <p:cNvSpPr>
            <a:spLocks noGrp="1"/>
          </p:cNvSpPr>
          <p:nvPr/>
        </p:nvSpPr>
        <p:spPr>
          <a:xfrm>
            <a:off x="552450" y="473392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Evidence to submit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FDA56F-3DB2-4361-97C6-F39ECE39EB95}"/>
              </a:ext>
            </a:extLst>
          </p:cNvPr>
          <p:cNvSpPr>
            <a:spLocks noGrp="1"/>
          </p:cNvSpPr>
          <p:nvPr/>
        </p:nvSpPr>
        <p:spPr>
          <a:xfrm>
            <a:off x="552450" y="508635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A tested alert, a CIM mapping checklist, and a short detection explanation.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69FD122-6A1A-4449-5060-A459C60D2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6143625"/>
            <a:ext cx="1331177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567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16FCFAC-FA2A-446B-B8E6-212E04AC1F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57300"/>
          </a:xfrm>
          <a:prstGeom prst="rect">
            <a:avLst/>
          </a:prstGeom>
          <a:solidFill>
            <a:srgbClr val="2D2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BE4AAB-D926-439E-98C8-78F8772D0E4E}"/>
              </a:ext>
            </a:extLst>
          </p:cNvPr>
          <p:cNvSpPr>
            <a:spLocks noGrp="1"/>
          </p:cNvSpPr>
          <p:nvPr/>
        </p:nvSpPr>
        <p:spPr>
          <a:xfrm>
            <a:off x="11163300" y="0"/>
            <a:ext cx="266700" cy="1457325"/>
          </a:xfrm>
          <a:prstGeom prst="rect">
            <a:avLst/>
          </a:prstGeom>
          <a:solidFill>
            <a:srgbClr val="BB16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6E25E8-8D18-4CC8-AD10-2613288975EC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382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February 20: Administration and automation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1DBFB6-42EC-45E1-A05C-0C55CD2DDE86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CD5665-74AE-4CD8-8449-A18C588BEE28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Manage access and ownership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FD9B83-E571-4859-817A-D02ABF824BAC}"/>
              </a:ext>
            </a:extLst>
          </p:cNvPr>
          <p:cNvSpPr>
            <a:spLocks noGrp="1"/>
          </p:cNvSpPr>
          <p:nvPr/>
        </p:nvSpPr>
        <p:spPr>
          <a:xfrm>
            <a:off x="552450" y="208597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Configure roles and index access. Test knowledge-object sharing and service-account ownership.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8CA6D0-FB4D-4910-B4A2-E893260D3100}"/>
              </a:ext>
            </a:extLst>
          </p:cNvPr>
          <p:cNvSpPr>
            <a:spLocks noGrp="1"/>
          </p:cNvSpPr>
          <p:nvPr/>
        </p:nvSpPr>
        <p:spPr>
          <a:xfrm>
            <a:off x="552450" y="273367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Control configuration changes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D4CD45-1DDB-4BB3-9249-4A95405FDB4B}"/>
              </a:ext>
            </a:extLst>
          </p:cNvPr>
          <p:cNvSpPr>
            <a:spLocks noGrp="1"/>
          </p:cNvSpPr>
          <p:nvPr/>
        </p:nvSpPr>
        <p:spPr>
          <a:xfrm>
            <a:off x="552450" y="308610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Understand precedence, local/default, app packaging, btool, server classes and cluster bundles.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1843B7-0F2C-491B-AF9C-F7933612DAC6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Automate repeatable tasks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D82B3A-5707-476C-9C76-B312BB4A1F56}"/>
              </a:ext>
            </a:extLst>
          </p:cNvPr>
          <p:cNvSpPr>
            <a:spLocks noGrp="1"/>
          </p:cNvSpPr>
          <p:nvPr/>
        </p:nvSpPr>
        <p:spPr>
          <a:xfrm>
            <a:off x="552450" y="408622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Use a read-only REST inventory exercise, simple scripts, and Git for configuration history.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679E14-5B87-4878-AFFF-21EF791FFF3E}"/>
              </a:ext>
            </a:extLst>
          </p:cNvPr>
          <p:cNvSpPr>
            <a:spLocks noGrp="1"/>
          </p:cNvSpPr>
          <p:nvPr/>
        </p:nvSpPr>
        <p:spPr>
          <a:xfrm>
            <a:off x="552450" y="473392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Evidence to submit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D3BF9F-0E63-4BB6-BE8C-18375C861C66}"/>
              </a:ext>
            </a:extLst>
          </p:cNvPr>
          <p:cNvSpPr>
            <a:spLocks noGrp="1"/>
          </p:cNvSpPr>
          <p:nvPr/>
        </p:nvSpPr>
        <p:spPr>
          <a:xfrm>
            <a:off x="552450" y="508635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A least-privilege role, versioned configuration app, inventory output, and rollback instructions.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CE9962A-ECEC-9B93-4B53-DE4BED2DD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6143625"/>
            <a:ext cx="1331177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5022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150893B-AF91-4D15-847D-043665C100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57300"/>
          </a:xfrm>
          <a:prstGeom prst="rect">
            <a:avLst/>
          </a:prstGeom>
          <a:solidFill>
            <a:srgbClr val="2D2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DF8F6C-5D9C-47CC-B152-10375E251AE3}"/>
              </a:ext>
            </a:extLst>
          </p:cNvPr>
          <p:cNvSpPr>
            <a:spLocks noGrp="1"/>
          </p:cNvSpPr>
          <p:nvPr/>
        </p:nvSpPr>
        <p:spPr>
          <a:xfrm>
            <a:off x="11163300" y="0"/>
            <a:ext cx="266700" cy="1457325"/>
          </a:xfrm>
          <a:prstGeom prst="rect">
            <a:avLst/>
          </a:prstGeom>
          <a:solidFill>
            <a:srgbClr val="BB16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962E3B-B360-44CD-AC1B-C693C0CBDDA2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382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February 27: Troubleshooting and recovery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C87D83-5F17-440F-8DF1-A9031E12C25E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16549E-EF90-4364-AE60-83F8AF155C94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Measure environment health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C81129-6F12-4736-B32D-A18417E922D7}"/>
              </a:ext>
            </a:extLst>
          </p:cNvPr>
          <p:cNvSpPr>
            <a:spLocks noGrp="1"/>
          </p:cNvSpPr>
          <p:nvPr/>
        </p:nvSpPr>
        <p:spPr>
          <a:xfrm>
            <a:off x="552450" y="208597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Use Monitoring Console, _internal and _audit to inspect ingest delays, queues and scheduled searches.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646B95-CE60-404D-BA33-E50F3C955EAB}"/>
              </a:ext>
            </a:extLst>
          </p:cNvPr>
          <p:cNvSpPr>
            <a:spLocks noGrp="1"/>
          </p:cNvSpPr>
          <p:nvPr/>
        </p:nvSpPr>
        <p:spPr>
          <a:xfrm>
            <a:off x="552450" y="273367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Improve performance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54D62B-13C5-43BB-93EC-8D9453A51D1A}"/>
              </a:ext>
            </a:extLst>
          </p:cNvPr>
          <p:cNvSpPr>
            <a:spLocks noGrp="1"/>
          </p:cNvSpPr>
          <p:nvPr/>
        </p:nvSpPr>
        <p:spPr>
          <a:xfrm>
            <a:off x="552450" y="308610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Review expensive SPL, job inspection, acceleration, retention, bucket sizing and storage pressure.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DCCFE7-1006-4705-84B0-926880398277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Test availability and recovery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C1F318-2C73-4FEF-9DE3-98AC593B9FAF}"/>
              </a:ext>
            </a:extLst>
          </p:cNvPr>
          <p:cNvSpPr>
            <a:spLocks noGrp="1"/>
          </p:cNvSpPr>
          <p:nvPr/>
        </p:nvSpPr>
        <p:spPr>
          <a:xfrm>
            <a:off x="552450" y="408622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Stop one indexer in a controlled exercise, verify searches, restore service and check cluster recovery.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577C39-DD9E-4F73-AB91-6F462BF224C2}"/>
              </a:ext>
            </a:extLst>
          </p:cNvPr>
          <p:cNvSpPr>
            <a:spLocks noGrp="1"/>
          </p:cNvSpPr>
          <p:nvPr/>
        </p:nvSpPr>
        <p:spPr>
          <a:xfrm>
            <a:off x="552450" y="473392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Evidence to submit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832575-2E2B-4CAD-B050-B15442A3069C}"/>
              </a:ext>
            </a:extLst>
          </p:cNvPr>
          <p:cNvSpPr>
            <a:spLocks noGrp="1"/>
          </p:cNvSpPr>
          <p:nvPr/>
        </p:nvSpPr>
        <p:spPr>
          <a:xfrm>
            <a:off x="552450" y="508635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A failure-drill report and a runbook covering diagnosis, recovery and verification.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24F79B9-F436-9D81-652E-2AF9EC75A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6143625"/>
            <a:ext cx="1331177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4874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8B0B217-196E-464C-8F24-843213CD1D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57300"/>
          </a:xfrm>
          <a:prstGeom prst="rect">
            <a:avLst/>
          </a:prstGeom>
          <a:solidFill>
            <a:srgbClr val="2D2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5E10A8-2BF1-48D9-A150-72D1D234C5B2}"/>
              </a:ext>
            </a:extLst>
          </p:cNvPr>
          <p:cNvSpPr>
            <a:spLocks noGrp="1"/>
          </p:cNvSpPr>
          <p:nvPr/>
        </p:nvSpPr>
        <p:spPr>
          <a:xfrm>
            <a:off x="11163300" y="0"/>
            <a:ext cx="266700" cy="1457325"/>
          </a:xfrm>
          <a:prstGeom prst="rect">
            <a:avLst/>
          </a:prstGeom>
          <a:solidFill>
            <a:srgbClr val="BB16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CAB4AD-FA70-4EFE-AFED-AE050CE26AB3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382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March 6: Modern Splunk in practice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1BD9BA-7C9B-45E2-9FB0-D2A65097C05D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A4440C-333F-4FF6-8227-9486FE5C8ED6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SPL2 alongside SPL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B9B2E2-9FE9-4F34-A418-72B30703B3FE}"/>
              </a:ext>
            </a:extLst>
          </p:cNvPr>
          <p:cNvSpPr>
            <a:spLocks noGrp="1"/>
          </p:cNvSpPr>
          <p:nvPr/>
        </p:nvSpPr>
        <p:spPr>
          <a:xfrm>
            <a:off x="552450" y="208597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Explore datasets, modules and SQL-style syntax. Compare the result of a simple SPL2 search with SPL.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AE399C-0740-499C-9B43-C4F9669E0C36}"/>
              </a:ext>
            </a:extLst>
          </p:cNvPr>
          <p:cNvSpPr>
            <a:spLocks noGrp="1"/>
          </p:cNvSpPr>
          <p:nvPr/>
        </p:nvSpPr>
        <p:spPr>
          <a:xfrm>
            <a:off x="552450" y="273367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AI-assisted search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1941DC-FE22-450A-97CC-9675EF23A2D3}"/>
              </a:ext>
            </a:extLst>
          </p:cNvPr>
          <p:cNvSpPr>
            <a:spLocks noGrp="1"/>
          </p:cNvSpPr>
          <p:nvPr/>
        </p:nvSpPr>
        <p:spPr>
          <a:xfrm>
            <a:off x="552450" y="308610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Review generated searches for correctness, permissions, time range and performance before running them.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B507B7-4073-4392-9F7A-270D717DFFC2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Data pipelines and observability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3E28A3-C61E-413C-AA0E-8E70B3DE928B}"/>
              </a:ext>
            </a:extLst>
          </p:cNvPr>
          <p:cNvSpPr>
            <a:spLocks noGrp="1"/>
          </p:cNvSpPr>
          <p:nvPr/>
        </p:nvSpPr>
        <p:spPr>
          <a:xfrm>
            <a:off x="552450" y="408622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Demonstrate Edge Processor concepts and OpenTelemetry logs, metrics and traces when access permits.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248AF6-EAE7-47D3-82A8-3A71243FD68C}"/>
              </a:ext>
            </a:extLst>
          </p:cNvPr>
          <p:cNvSpPr>
            <a:spLocks noGrp="1"/>
          </p:cNvSpPr>
          <p:nvPr/>
        </p:nvSpPr>
        <p:spPr>
          <a:xfrm>
            <a:off x="552450" y="473392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Evidence to submit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967F3E-DE27-476D-AA72-A76221931160}"/>
              </a:ext>
            </a:extLst>
          </p:cNvPr>
          <p:cNvSpPr>
            <a:spLocks noGrp="1"/>
          </p:cNvSpPr>
          <p:nvPr/>
        </p:nvSpPr>
        <p:spPr>
          <a:xfrm>
            <a:off x="552450" y="508635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One SPL2 example plus a short explanation of Enterprise, Cloud, security and observability boundaries.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CE334D2-5E87-570E-ECC1-E87083D53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6143625"/>
            <a:ext cx="1331177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0593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1582288-65B4-438A-A12E-2AF527BEBF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57300"/>
          </a:xfrm>
          <a:prstGeom prst="rect">
            <a:avLst/>
          </a:prstGeom>
          <a:solidFill>
            <a:srgbClr val="2D2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E21F82-6C6B-4AFD-9978-FA4F51E07B1D}"/>
              </a:ext>
            </a:extLst>
          </p:cNvPr>
          <p:cNvSpPr>
            <a:spLocks noGrp="1"/>
          </p:cNvSpPr>
          <p:nvPr/>
        </p:nvSpPr>
        <p:spPr>
          <a:xfrm>
            <a:off x="11163300" y="0"/>
            <a:ext cx="266700" cy="1457325"/>
          </a:xfrm>
          <a:prstGeom prst="rect">
            <a:avLst/>
          </a:prstGeom>
          <a:solidFill>
            <a:srgbClr val="BB16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8FF322-9D7B-431C-A3CD-D662BDF74D57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382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March 13: Capstone and final review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0C154C-2A4E-4866-ACD6-AABA4B3381FF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76B801-C707-47F5-9E76-0BDD3F8FB4E5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Demonstrate your deployment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AD0BAA-23C4-424B-A03A-71FAD27B1898}"/>
              </a:ext>
            </a:extLst>
          </p:cNvPr>
          <p:cNvSpPr>
            <a:spLocks noGrp="1"/>
          </p:cNvSpPr>
          <p:nvPr/>
        </p:nvSpPr>
        <p:spPr>
          <a:xfrm>
            <a:off x="552450" y="208597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Explain every VM role and show healthy replication, searchable data and monitoring.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FEAA36-A963-433D-A79D-8077C44E293C}"/>
              </a:ext>
            </a:extLst>
          </p:cNvPr>
          <p:cNvSpPr>
            <a:spLocks noGrp="1"/>
          </p:cNvSpPr>
          <p:nvPr/>
        </p:nvSpPr>
        <p:spPr>
          <a:xfrm>
            <a:off x="552450" y="273367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Demonstrate the user experience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B7E648-BE20-4E73-B1B3-E57B32DD2415}"/>
              </a:ext>
            </a:extLst>
          </p:cNvPr>
          <p:cNvSpPr>
            <a:spLocks noGrp="1"/>
          </p:cNvSpPr>
          <p:nvPr/>
        </p:nvSpPr>
        <p:spPr>
          <a:xfrm>
            <a:off x="552450" y="308610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Present OS, Network and Game Activity dashboards plus a tested scheduled alert.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04090E-14EB-4ADC-98DA-9F95EA7FA360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Resolve a troubleshooting scenario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B27E79-626E-489F-B2CA-31800852B026}"/>
              </a:ext>
            </a:extLst>
          </p:cNvPr>
          <p:cNvSpPr>
            <a:spLocks noGrp="1"/>
          </p:cNvSpPr>
          <p:nvPr/>
        </p:nvSpPr>
        <p:spPr>
          <a:xfrm>
            <a:off x="552450" y="408622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Explain the symptom, gather evidence, apply a fix and verify the result.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04DB5D-732D-4EF5-869D-76453A3FC105}"/>
              </a:ext>
            </a:extLst>
          </p:cNvPr>
          <p:cNvSpPr>
            <a:spLocks noGrp="1"/>
          </p:cNvSpPr>
          <p:nvPr/>
        </p:nvSpPr>
        <p:spPr>
          <a:xfrm>
            <a:off x="552450" y="473392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Deliver your portfolio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3F82D4-6AA0-4691-93DF-08ABE884ACE9}"/>
              </a:ext>
            </a:extLst>
          </p:cNvPr>
          <p:cNvSpPr>
            <a:spLocks noGrp="1"/>
          </p:cNvSpPr>
          <p:nvPr/>
        </p:nvSpPr>
        <p:spPr>
          <a:xfrm>
            <a:off x="552450" y="508635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Submit the architecture diagram, sanitized configuration apps, searches and operating runbook.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705448E-F616-93B2-6FFA-E770EF282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6143625"/>
            <a:ext cx="1331177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7479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D9CD8A2-C707-4BAD-9B5D-C89CACC0A2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57300"/>
          </a:xfrm>
          <a:prstGeom prst="rect">
            <a:avLst/>
          </a:prstGeom>
          <a:solidFill>
            <a:srgbClr val="2D2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47E1EA-4AA4-4410-99B1-C436CEFB21DC}"/>
              </a:ext>
            </a:extLst>
          </p:cNvPr>
          <p:cNvSpPr>
            <a:spLocks noGrp="1"/>
          </p:cNvSpPr>
          <p:nvPr/>
        </p:nvSpPr>
        <p:spPr>
          <a:xfrm>
            <a:off x="11163300" y="0"/>
            <a:ext cx="266700" cy="1457325"/>
          </a:xfrm>
          <a:prstGeom prst="rect">
            <a:avLst/>
          </a:prstGeom>
          <a:solidFill>
            <a:srgbClr val="BB16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A98FC9-6347-4212-98D9-721606251ED9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382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The capstone acceptance checklist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7AC077-C5C7-495B-AAF4-D02B3C325ACA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80E6EE-B69D-4505-BAC6-2C8AE0674050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Deployment and availability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8557F1-7943-44D2-B9BD-B57142EE686E}"/>
              </a:ext>
            </a:extLst>
          </p:cNvPr>
          <p:cNvSpPr>
            <a:spLocks noGrp="1"/>
          </p:cNvSpPr>
          <p:nvPr/>
        </p:nvSpPr>
        <p:spPr>
          <a:xfrm>
            <a:off x="552450" y="208597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Eight roles are reachable. RF/SF are met. Search remains usable during a one-indexer failure drill.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B25B20-BB69-4922-A4A5-8E73815F5601}"/>
              </a:ext>
            </a:extLst>
          </p:cNvPr>
          <p:cNvSpPr>
            <a:spLocks noGrp="1"/>
          </p:cNvSpPr>
          <p:nvPr/>
        </p:nvSpPr>
        <p:spPr>
          <a:xfrm>
            <a:off x="552450" y="273367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Data quality and analytics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C118E8-D7E1-4809-A457-6C321E2B2D54}"/>
              </a:ext>
            </a:extLst>
          </p:cNvPr>
          <p:cNvSpPr>
            <a:spLocks noGrp="1"/>
          </p:cNvSpPr>
          <p:nvPr/>
        </p:nvSpPr>
        <p:spPr>
          <a:xfrm>
            <a:off x="552450" y="308610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The three indexes have valid events. OS, Network and Game Activity dashboards answer the lab questions.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6CA0C1-9329-4E34-8260-ACA175433684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Operations and security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43CFFA-8786-415B-B34D-0B520AC58E7C}"/>
              </a:ext>
            </a:extLst>
          </p:cNvPr>
          <p:cNvSpPr>
            <a:spLocks noGrp="1"/>
          </p:cNvSpPr>
          <p:nvPr/>
        </p:nvSpPr>
        <p:spPr>
          <a:xfrm>
            <a:off x="552450" y="408622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Monitoring works, a scheduled alert fires, permissions are tested, and secrets stay out of exports.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55EE90-ED39-4E8F-9236-5971067A61B5}"/>
              </a:ext>
            </a:extLst>
          </p:cNvPr>
          <p:cNvSpPr>
            <a:spLocks noGrp="1"/>
          </p:cNvSpPr>
          <p:nvPr/>
        </p:nvSpPr>
        <p:spPr>
          <a:xfrm>
            <a:off x="552450" y="473392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Repeatability and explanation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37CA8B-F79C-4D86-9542-7C94D98BDD18}"/>
              </a:ext>
            </a:extLst>
          </p:cNvPr>
          <p:cNvSpPr>
            <a:spLocks noGrp="1"/>
          </p:cNvSpPr>
          <p:nvPr/>
        </p:nvSpPr>
        <p:spPr>
          <a:xfrm>
            <a:off x="552450" y="508635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Another engineer can follow your inventory, configuration notes and recovery runbook.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8B1D3C6-C3F3-E434-9B2A-6C1BCB9FF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6143625"/>
            <a:ext cx="1331177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8572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AC4DA1E-25E2-498B-8806-60C3564BC3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57300"/>
          </a:xfrm>
          <a:prstGeom prst="rect">
            <a:avLst/>
          </a:prstGeom>
          <a:solidFill>
            <a:srgbClr val="2D2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8750A3-EC37-4692-84AE-F87D230CC6E8}"/>
              </a:ext>
            </a:extLst>
          </p:cNvPr>
          <p:cNvSpPr>
            <a:spLocks noGrp="1"/>
          </p:cNvSpPr>
          <p:nvPr/>
        </p:nvSpPr>
        <p:spPr>
          <a:xfrm>
            <a:off x="11163300" y="0"/>
            <a:ext cx="266700" cy="1457325"/>
          </a:xfrm>
          <a:prstGeom prst="rect">
            <a:avLst/>
          </a:prstGeom>
          <a:solidFill>
            <a:srgbClr val="BB16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655B91-F63D-4999-8D40-589455655AFB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382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Tuition and course expectations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AEED0-6A7D-46F2-B9ED-A5748D3838D4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9EB0A7-D8FC-4041-806D-BCDCADCB1150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5238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525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525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525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525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525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525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525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525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525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525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525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pPr>
            <a:r>
              <a:rPr sz="5250" b="1">
                <a:solidFill>
                  <a:srgbClr val="BB1686"/>
                </a:solidFill>
                <a:latin typeface="DejaVu Sans"/>
                <a:ea typeface="DejaVu Sans"/>
                <a:cs typeface="DejaVu Sans"/>
              </a:rPr>
              <a:t>$3,500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16D2B8-F7C6-4C30-8735-E41ADD52BE7E}"/>
              </a:ext>
            </a:extLst>
          </p:cNvPr>
          <p:cNvSpPr>
            <a:spLocks noGrp="1"/>
          </p:cNvSpPr>
          <p:nvPr/>
        </p:nvSpPr>
        <p:spPr>
          <a:xfrm>
            <a:off x="571500" y="2809875"/>
            <a:ext cx="495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2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2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2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2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2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2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2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2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2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2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2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Course tuition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DD83F3-DFF4-4BF3-A9A5-F7E3A32DB263}"/>
              </a:ext>
            </a:extLst>
          </p:cNvPr>
          <p:cNvSpPr>
            <a:spLocks noGrp="1"/>
          </p:cNvSpPr>
          <p:nvPr/>
        </p:nvSpPr>
        <p:spPr>
          <a:xfrm>
            <a:off x="571500" y="3429000"/>
            <a:ext cx="5143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72334"/>
                </a:solidFill>
                <a:latin typeface="DejaVu Sans"/>
                <a:ea typeface="DejaVu Sans"/>
                <a:cs typeface="DejaVu Sans"/>
              </a:rPr>
              <a:t>Zelle</a:t>
            </a:r>
          </a:p>
          <a:p>
            <a:pPr>
              <a:buNone/>
              <a:defRPr sz="21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72334"/>
                </a:solidFill>
                <a:latin typeface="DejaVu Sans"/>
                <a:ea typeface="DejaVu Sans"/>
                <a:cs typeface="DejaVu Sans"/>
              </a:rPr>
              <a:t>t.oanalyticsllc@gmail.com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EAFAB2-7FEF-4EBB-9EA2-E80876165131}"/>
              </a:ext>
            </a:extLst>
          </p:cNvPr>
          <p:cNvSpPr>
            <a:spLocks noGrp="1"/>
          </p:cNvSpPr>
          <p:nvPr/>
        </p:nvSpPr>
        <p:spPr>
          <a:xfrm>
            <a:off x="6477000" y="1838325"/>
            <a:ext cx="50958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Every student purchases a server.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40DD88-51CF-4F1B-A2F5-57E2C8C11B25}"/>
              </a:ext>
            </a:extLst>
          </p:cNvPr>
          <p:cNvSpPr>
            <a:spLocks noGrp="1"/>
          </p:cNvSpPr>
          <p:nvPr/>
        </p:nvSpPr>
        <p:spPr>
          <a:xfrm>
            <a:off x="6477000" y="3143250"/>
            <a:ext cx="50482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rPr>
              <a:t>Attend Saturday sessions and complete weekly labs.</a:t>
            </a:r>
          </a:p>
          <a:p>
            <a:endParaRPr sz="1875" b="0">
              <a:solidFill>
                <a:srgbClr val="272334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rPr>
              <a:t>Bring questions and share progress during the certification phase.</a:t>
            </a:r>
          </a:p>
          <a:p>
            <a:endParaRPr sz="1875" b="0">
              <a:solidFill>
                <a:srgbClr val="272334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72334"/>
                </a:solidFill>
                <a:latin typeface="DejaVu Sans"/>
                <a:ea typeface="DejaVu Sans"/>
                <a:cs typeface="DejaVu Sans"/>
              </a:rPr>
              <a:t>Confirm exam fees and any other costs with the instructor.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9C8A397-6E0D-0D3B-4465-7F530D248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6143625"/>
            <a:ext cx="1331177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8764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56ECF2E-39DD-454C-A3EB-A3EF4D22E3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57300"/>
          </a:xfrm>
          <a:prstGeom prst="rect">
            <a:avLst/>
          </a:prstGeom>
          <a:solidFill>
            <a:srgbClr val="2D2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3EFEAB-AFD7-431F-A7A2-9CB62A0112FA}"/>
              </a:ext>
            </a:extLst>
          </p:cNvPr>
          <p:cNvSpPr>
            <a:spLocks noGrp="1"/>
          </p:cNvSpPr>
          <p:nvPr/>
        </p:nvSpPr>
        <p:spPr>
          <a:xfrm>
            <a:off x="11163300" y="0"/>
            <a:ext cx="266700" cy="1457325"/>
          </a:xfrm>
          <a:prstGeom prst="rect">
            <a:avLst/>
          </a:prstGeom>
          <a:solidFill>
            <a:srgbClr val="BB16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608E56-D3C4-4805-89F5-DF08D64BE8EE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382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Your next steps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38B31-7947-46B4-8B91-C3FFA16EFE21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6D372D-73FB-4D39-9487-52F6A2EB2F03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This week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2196E5-847D-4B18-939C-7C39F143E3DA}"/>
              </a:ext>
            </a:extLst>
          </p:cNvPr>
          <p:cNvSpPr>
            <a:spLocks noGrp="1"/>
          </p:cNvSpPr>
          <p:nvPr/>
        </p:nvSpPr>
        <p:spPr>
          <a:xfrm>
            <a:off x="552450" y="208597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Set your Power User study schedule and contact the instructor with your first questions.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3D89D2-2FA8-4F5E-9111-1EF9FBD68B5A}"/>
              </a:ext>
            </a:extLst>
          </p:cNvPr>
          <p:cNvSpPr>
            <a:spLocks noGrp="1"/>
          </p:cNvSpPr>
          <p:nvPr/>
        </p:nvSpPr>
        <p:spPr>
          <a:xfrm>
            <a:off x="552450" y="273367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By November 28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5351BB-8687-4D33-92AA-ACD4431CC024}"/>
              </a:ext>
            </a:extLst>
          </p:cNvPr>
          <p:cNvSpPr>
            <a:spLocks noGrp="1"/>
          </p:cNvSpPr>
          <p:nvPr/>
        </p:nvSpPr>
        <p:spPr>
          <a:xfrm>
            <a:off x="552450" y="308610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Pass Power User, then complete Admin preparation for the December 19 deadline.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580EF4-033D-4424-B5B3-640C70AD6F48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Before January 9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BC95CA-B1CB-4389-B644-F4E27A067A27}"/>
              </a:ext>
            </a:extLst>
          </p:cNvPr>
          <p:cNvSpPr>
            <a:spLocks noGrp="1"/>
          </p:cNvSpPr>
          <p:nvPr/>
        </p:nvSpPr>
        <p:spPr>
          <a:xfrm>
            <a:off x="552450" y="408622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Purchase your server, verify capacity and connectivity, and confirm the lab licensing plan.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E2C2B8-E565-4E31-81F2-C1E4949E5C6A}"/>
              </a:ext>
            </a:extLst>
          </p:cNvPr>
          <p:cNvSpPr>
            <a:spLocks noGrp="1"/>
          </p:cNvSpPr>
          <p:nvPr/>
        </p:nvSpPr>
        <p:spPr>
          <a:xfrm>
            <a:off x="552450" y="473392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204A"/>
                </a:solidFill>
                <a:latin typeface="DejaVu Sans"/>
                <a:ea typeface="DejaVu Sans"/>
                <a:cs typeface="DejaVu Sans"/>
              </a:rPr>
              <a:t>January 9 at 8:00 AM Eastern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D5185E-9077-4EE1-9EA7-36ABB2AFD2C5}"/>
              </a:ext>
            </a:extLst>
          </p:cNvPr>
          <p:cNvSpPr>
            <a:spLocks noGrp="1"/>
          </p:cNvSpPr>
          <p:nvPr/>
        </p:nvSpPr>
        <p:spPr>
          <a:xfrm>
            <a:off x="552450" y="5086350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Join ready to install Proxmox and build the virtual machines for your Splunk environment.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8A679BB-9EF3-A6D3-6E6D-A943F261E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6143625"/>
            <a:ext cx="1331177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9401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01511A3-5820-45FA-BF90-81F1949AA2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57300"/>
          </a:xfrm>
          <a:prstGeom prst="rect">
            <a:avLst/>
          </a:prstGeom>
          <a:solidFill>
            <a:srgbClr val="2D2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943B9D-E552-4DDF-986B-D9F976FBC090}"/>
              </a:ext>
            </a:extLst>
          </p:cNvPr>
          <p:cNvSpPr>
            <a:spLocks noGrp="1"/>
          </p:cNvSpPr>
          <p:nvPr/>
        </p:nvSpPr>
        <p:spPr>
          <a:xfrm>
            <a:off x="11163300" y="0"/>
            <a:ext cx="266700" cy="1457325"/>
          </a:xfrm>
          <a:prstGeom prst="rect">
            <a:avLst/>
          </a:prstGeom>
          <a:solidFill>
            <a:srgbClr val="BB16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3F6A2C-4B46-421B-9B7B-DDD4B2549981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382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Resources and reference material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4A4933-5B9F-4748-B74B-AD8F628D2277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5C70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495E86-3D76-4E86-A4CD-E6F2ED2AC4A7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hlinkClick r:id="rId3"/>
              </a:rPr>
              <a:t>T.O Analytics study hub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06703-B98B-4024-806C-54B7F3D0551F}"/>
              </a:ext>
            </a:extLst>
          </p:cNvPr>
          <p:cNvSpPr>
            <a:spLocks noGrp="1"/>
          </p:cNvSpPr>
          <p:nvPr/>
        </p:nvSpPr>
        <p:spPr>
          <a:xfrm>
            <a:off x="552450" y="2371725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hlinkClick r:id="rId4"/>
              </a:rPr>
              <a:t>Power User certification and blueprint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0338F2-760A-41F5-9604-B559E1119A56}"/>
              </a:ext>
            </a:extLst>
          </p:cNvPr>
          <p:cNvSpPr>
            <a:spLocks noGrp="1"/>
          </p:cNvSpPr>
          <p:nvPr/>
        </p:nvSpPr>
        <p:spPr>
          <a:xfrm>
            <a:off x="552450" y="2990850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hlinkClick r:id="rId5"/>
              </a:rPr>
              <a:t>Enterprise Admin certification and blueprint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C724F6-5EC2-4CF0-8C71-74CF0FDADB7A}"/>
              </a:ext>
            </a:extLst>
          </p:cNvPr>
          <p:cNvSpPr>
            <a:spLocks noGrp="1"/>
          </p:cNvSpPr>
          <p:nvPr/>
        </p:nvSpPr>
        <p:spPr>
          <a:xfrm>
            <a:off x="552450" y="3609975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hlinkClick r:id="rId6"/>
              </a:rPr>
              <a:t>Splunk Enterprise release notes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232B1C-33B9-4C4A-8814-B872E1183504}"/>
              </a:ext>
            </a:extLst>
          </p:cNvPr>
          <p:cNvSpPr>
            <a:spLocks noGrp="1"/>
          </p:cNvSpPr>
          <p:nvPr/>
        </p:nvSpPr>
        <p:spPr>
          <a:xfrm>
            <a:off x="552450" y="4229100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hlinkClick r:id="rId7"/>
              </a:rPr>
              <a:t>What is new in Dashboard Studio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871B6E-6928-4755-9B3B-49702C684688}"/>
              </a:ext>
            </a:extLst>
          </p:cNvPr>
          <p:cNvSpPr>
            <a:spLocks noGrp="1"/>
          </p:cNvSpPr>
          <p:nvPr/>
        </p:nvSpPr>
        <p:spPr>
          <a:xfrm>
            <a:off x="552450" y="4848225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1">
                <a:solidFill>
                  <a:srgbClr val="BB1686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hlinkClick r:id="rId8"/>
              </a:rPr>
              <a:t>Proxmox VE requirements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17DEEC7-F8D2-F7D1-AA79-CB78BCB8D9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476250" y="6143625"/>
            <a:ext cx="1331177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33897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2193</Words>
  <Application>Microsoft Macintosh PowerPoint</Application>
  <DocSecurity>0</DocSecurity>
  <PresentationFormat>Widescreen</PresentationFormat>
  <Paragraphs>336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Aptos</vt:lpstr>
      <vt:lpstr>DejaVu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Ms. Mofoluwakemi Mosaku</cp:lastModifiedBy>
  <cp:revision>2</cp:revision>
  <dcterms:created xsi:type="dcterms:W3CDTF">2026-10-30T04:11:43Z</dcterms:created>
  <dcterms:modified xsi:type="dcterms:W3CDTF">2026-10-30T04:23:01Z</dcterms:modified>
</cp:coreProperties>
</file>